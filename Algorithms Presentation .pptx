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Adlery Blockletter" charset="1" panose="02000508020000020004"/>
      <p:regular r:id="rId30"/>
    </p:embeddedFont>
    <p:embeddedFont>
      <p:font typeface="Anek Bangla Semi-Bold" charset="1" panose="00000000000000000000"/>
      <p:regular r:id="rId31"/>
    </p:embeddedFont>
    <p:embeddedFont>
      <p:font typeface="Anek Bangla Bold" charset="1" panose="000000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gif" Type="http://schemas.openxmlformats.org/officeDocument/2006/relationships/image"/><Relationship Id="rId11" Target="../media/image10.gif"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gif"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gif" Type="http://schemas.openxmlformats.org/officeDocument/2006/relationships/image"/><Relationship Id="rId9" Target="../media/image8.gif"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1.gif"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8.gif" Type="http://schemas.openxmlformats.org/officeDocument/2006/relationships/image"/><Relationship Id="rId8" Target="../media/image9.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8.gif" Type="http://schemas.openxmlformats.org/officeDocument/2006/relationships/image"/><Relationship Id="rId8" Target="../media/image10.gif"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8.gif" Type="http://schemas.openxmlformats.org/officeDocument/2006/relationships/image"/><Relationship Id="rId8" Target="../media/image10.gif" Type="http://schemas.openxmlformats.org/officeDocument/2006/relationships/image"/><Relationship Id="rId9"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gif"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8.gif" Type="http://schemas.openxmlformats.org/officeDocument/2006/relationships/image"/><Relationship Id="rId8" Target="../media/image12.png" Type="http://schemas.openxmlformats.org/officeDocument/2006/relationships/image"/><Relationship Id="rId9" Target="../media/image10.gif"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8.gif"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9.gif"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0.gif" Type="http://schemas.openxmlformats.org/officeDocument/2006/relationships/image"/><Relationship Id="rId8" Target="../media/image9.gif" Type="http://schemas.openxmlformats.org/officeDocument/2006/relationships/image"/><Relationship Id="rId9" Target="../media/image11.gif"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1.gif"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9.gif" Type="http://schemas.openxmlformats.org/officeDocument/2006/relationships/image"/><Relationship Id="rId6" Target="../media/image15.gif"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9.gif" Type="http://schemas.openxmlformats.org/officeDocument/2006/relationships/image"/><Relationship Id="rId6"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gif" Type="http://schemas.openxmlformats.org/officeDocument/2006/relationships/image"/><Relationship Id="rId6" Target="../media/image17.png" Type="http://schemas.openxmlformats.org/officeDocument/2006/relationships/image"/><Relationship Id="rId7" Target="../embeddings/oleObject1.bin" Type="http://schemas.openxmlformats.org/officeDocument/2006/relationships/oleObjec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8.gif"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8.gif" Type="http://schemas.openxmlformats.org/officeDocument/2006/relationships/image"/><Relationship Id="rId6" Target="../media/image9.gif" Type="http://schemas.openxmlformats.org/officeDocument/2006/relationships/image"/><Relationship Id="rId7" Target="../media/image18.png" Type="http://schemas.openxmlformats.org/officeDocument/2006/relationships/image"/><Relationship Id="rId8" Target="../embeddings/oleObject2.bin" Type="http://schemas.openxmlformats.org/officeDocument/2006/relationships/oleObjec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gif"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8.gif"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8.gif"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1.gif"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gif" Type="http://schemas.openxmlformats.org/officeDocument/2006/relationships/image"/><Relationship Id="rId8" Target="../media/image9.gif" Type="http://schemas.openxmlformats.org/officeDocument/2006/relationships/image"/><Relationship Id="rId9" Target="../media/image8.gif"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8.gif" Type="http://schemas.openxmlformats.org/officeDocument/2006/relationships/image"/><Relationship Id="rId8" Target="../media/image12.png" Type="http://schemas.openxmlformats.org/officeDocument/2006/relationships/image"/><Relationship Id="rId9" Target="../media/image10.gif"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gif" Type="http://schemas.openxmlformats.org/officeDocument/2006/relationships/image"/><Relationship Id="rId8" Target="../media/image19.png" Type="http://schemas.openxmlformats.org/officeDocument/2006/relationships/image"/><Relationship Id="rId9" Target="../media/image4.gif"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1.gif"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gif" Type="http://schemas.openxmlformats.org/officeDocument/2006/relationships/image"/><Relationship Id="rId11" Target="../media/image11.gif"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gif"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gif" Type="http://schemas.openxmlformats.org/officeDocument/2006/relationships/image"/><Relationship Id="rId9" Target="../media/image9.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9078968"/>
          </a:xfrm>
          <a:custGeom>
            <a:avLst/>
            <a:gdLst/>
            <a:ahLst/>
            <a:cxnLst/>
            <a:rect r="r" b="b" t="t" l="l"/>
            <a:pathLst>
              <a:path h="9078968" w="18774801">
                <a:moveTo>
                  <a:pt x="0" y="0"/>
                </a:moveTo>
                <a:lnTo>
                  <a:pt x="18774801" y="0"/>
                </a:lnTo>
                <a:lnTo>
                  <a:pt x="18774801" y="9078968"/>
                </a:lnTo>
                <a:lnTo>
                  <a:pt x="0" y="9078968"/>
                </a:lnTo>
                <a:lnTo>
                  <a:pt x="0" y="0"/>
                </a:lnTo>
                <a:close/>
              </a:path>
            </a:pathLst>
          </a:custGeom>
          <a:blipFill>
            <a:blip r:embed="rId2"/>
            <a:stretch>
              <a:fillRect l="0" t="-12038" r="0" b="-12038"/>
            </a:stretch>
          </a:blipFill>
        </p:spPr>
      </p:sp>
      <p:sp>
        <p:nvSpPr>
          <p:cNvPr name="Freeform 3" id="3"/>
          <p:cNvSpPr/>
          <p:nvPr/>
        </p:nvSpPr>
        <p:spPr>
          <a:xfrm flipH="false" flipV="false" rot="0">
            <a:off x="-246161" y="6977446"/>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6977446"/>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6977446"/>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6" id="6"/>
          <p:cNvPicPr>
            <a:picLocks noChangeAspect="true"/>
          </p:cNvPicPr>
          <p:nvPr/>
        </p:nvPicPr>
        <p:blipFill>
          <a:blip r:embed="rId5"/>
          <a:srcRect l="0" t="0" r="0" b="0"/>
          <a:stretch>
            <a:fillRect/>
          </a:stretch>
        </p:blipFill>
        <p:spPr>
          <a:xfrm flipH="false" flipV="false" rot="0">
            <a:off x="-2721114" y="2447027"/>
            <a:ext cx="5946840" cy="6414246"/>
          </a:xfrm>
          <a:prstGeom prst="rect">
            <a:avLst/>
          </a:prstGeom>
        </p:spPr>
      </p:pic>
      <p:sp>
        <p:nvSpPr>
          <p:cNvPr name="Freeform 7" id="7"/>
          <p:cNvSpPr/>
          <p:nvPr/>
        </p:nvSpPr>
        <p:spPr>
          <a:xfrm flipH="false" flipV="false" rot="0">
            <a:off x="-619002" y="8400380"/>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7402661" y="7873619"/>
            <a:ext cx="3482678" cy="2089607"/>
          </a:xfrm>
          <a:prstGeom prst="rect">
            <a:avLst/>
          </a:prstGeom>
        </p:spPr>
      </p:pic>
      <p:pic>
        <p:nvPicPr>
          <p:cNvPr name="Picture 9" id="9"/>
          <p:cNvPicPr>
            <a:picLocks noChangeAspect="true"/>
          </p:cNvPicPr>
          <p:nvPr/>
        </p:nvPicPr>
        <p:blipFill>
          <a:blip r:embed="rId9"/>
          <a:srcRect l="0" t="0" r="0" b="0"/>
          <a:stretch>
            <a:fillRect/>
          </a:stretch>
        </p:blipFill>
        <p:spPr>
          <a:xfrm flipH="true" flipV="false" rot="0">
            <a:off x="1539045" y="7495939"/>
            <a:ext cx="3823395" cy="1337401"/>
          </a:xfrm>
          <a:prstGeom prst="rect">
            <a:avLst/>
          </a:prstGeom>
        </p:spPr>
      </p:pic>
      <p:pic>
        <p:nvPicPr>
          <p:cNvPr name="Picture 10" id="10"/>
          <p:cNvPicPr>
            <a:picLocks noChangeAspect="true"/>
          </p:cNvPicPr>
          <p:nvPr/>
        </p:nvPicPr>
        <p:blipFill>
          <a:blip r:embed="rId10"/>
          <a:srcRect l="0" t="0" r="0" b="0"/>
          <a:stretch>
            <a:fillRect/>
          </a:stretch>
        </p:blipFill>
        <p:spPr>
          <a:xfrm flipH="true" flipV="false" rot="0">
            <a:off x="13003926" y="6977446"/>
            <a:ext cx="4255374" cy="1883826"/>
          </a:xfrm>
          <a:prstGeom prst="rect">
            <a:avLst/>
          </a:prstGeom>
        </p:spPr>
      </p:pic>
      <p:pic>
        <p:nvPicPr>
          <p:cNvPr name="Picture 11" id="11"/>
          <p:cNvPicPr>
            <a:picLocks noChangeAspect="true"/>
          </p:cNvPicPr>
          <p:nvPr/>
        </p:nvPicPr>
        <p:blipFill>
          <a:blip r:embed="rId11"/>
          <a:srcRect l="0" t="0" r="0" b="0"/>
          <a:stretch>
            <a:fillRect/>
          </a:stretch>
        </p:blipFill>
        <p:spPr>
          <a:xfrm flipH="false" flipV="false" rot="0">
            <a:off x="14080099" y="1094544"/>
            <a:ext cx="2896635" cy="1882812"/>
          </a:xfrm>
          <a:prstGeom prst="rect">
            <a:avLst/>
          </a:prstGeom>
        </p:spPr>
      </p:pic>
      <p:sp>
        <p:nvSpPr>
          <p:cNvPr name="TextBox 12" id="12"/>
          <p:cNvSpPr txBox="true"/>
          <p:nvPr/>
        </p:nvSpPr>
        <p:spPr>
          <a:xfrm rot="0">
            <a:off x="3411439" y="2571848"/>
            <a:ext cx="12142884" cy="3867240"/>
          </a:xfrm>
          <a:prstGeom prst="rect">
            <a:avLst/>
          </a:prstGeom>
        </p:spPr>
        <p:txBody>
          <a:bodyPr anchor="t" rtlCol="false" tIns="0" lIns="0" bIns="0" rIns="0">
            <a:spAutoFit/>
          </a:bodyPr>
          <a:lstStyle/>
          <a:p>
            <a:pPr algn="ctr">
              <a:lnSpc>
                <a:spcPts val="13920"/>
              </a:lnSpc>
            </a:pPr>
            <a:r>
              <a:rPr lang="en-US" sz="17400">
                <a:solidFill>
                  <a:srgbClr val="000000"/>
                </a:solidFill>
                <a:latin typeface="Adlery Blockletter"/>
                <a:ea typeface="Adlery Blockletter"/>
                <a:cs typeface="Adlery Blockletter"/>
                <a:sym typeface="Adlery Blockletter"/>
              </a:rPr>
              <a:t>Smart City Transportation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grpSp>
        <p:nvGrpSpPr>
          <p:cNvPr name="Group 3" id="3"/>
          <p:cNvGrpSpPr/>
          <p:nvPr/>
        </p:nvGrpSpPr>
        <p:grpSpPr>
          <a:xfrm rot="0">
            <a:off x="-246161" y="8375383"/>
            <a:ext cx="20916839" cy="1422933"/>
            <a:chOff x="0" y="0"/>
            <a:chExt cx="27889118" cy="1897244"/>
          </a:xfrm>
        </p:grpSpPr>
        <p:sp>
          <p:nvSpPr>
            <p:cNvPr name="Freeform 4" id="4"/>
            <p:cNvSpPr/>
            <p:nvPr/>
          </p:nvSpPr>
          <p:spPr>
            <a:xfrm flipH="false" flipV="false" rot="0">
              <a:off x="0" y="0"/>
              <a:ext cx="9753600" cy="1897244"/>
            </a:xfrm>
            <a:custGeom>
              <a:avLst/>
              <a:gdLst/>
              <a:ahLst/>
              <a:cxnLst/>
              <a:rect r="r" b="b" t="t" l="l"/>
              <a:pathLst>
                <a:path h="1897244" w="9753600">
                  <a:moveTo>
                    <a:pt x="0" y="0"/>
                  </a:moveTo>
                  <a:lnTo>
                    <a:pt x="9753600" y="0"/>
                  </a:lnTo>
                  <a:lnTo>
                    <a:pt x="9753600" y="1897244"/>
                  </a:lnTo>
                  <a:lnTo>
                    <a:pt x="0" y="1897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067759" y="0"/>
              <a:ext cx="9753600" cy="1897244"/>
            </a:xfrm>
            <a:custGeom>
              <a:avLst/>
              <a:gdLst/>
              <a:ahLst/>
              <a:cxnLst/>
              <a:rect r="r" b="b" t="t" l="l"/>
              <a:pathLst>
                <a:path h="1897244" w="9753600">
                  <a:moveTo>
                    <a:pt x="0" y="0"/>
                  </a:moveTo>
                  <a:lnTo>
                    <a:pt x="9753600" y="0"/>
                  </a:lnTo>
                  <a:lnTo>
                    <a:pt x="9753600" y="1897244"/>
                  </a:lnTo>
                  <a:lnTo>
                    <a:pt x="0" y="1897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8135518" y="0"/>
              <a:ext cx="9753600" cy="1897244"/>
            </a:xfrm>
            <a:custGeom>
              <a:avLst/>
              <a:gdLst/>
              <a:ahLst/>
              <a:cxnLst/>
              <a:rect r="r" b="b" t="t" l="l"/>
              <a:pathLst>
                <a:path h="1897244" w="9753600">
                  <a:moveTo>
                    <a:pt x="0" y="0"/>
                  </a:moveTo>
                  <a:lnTo>
                    <a:pt x="9753600" y="0"/>
                  </a:lnTo>
                  <a:lnTo>
                    <a:pt x="9753600" y="1897244"/>
                  </a:lnTo>
                  <a:lnTo>
                    <a:pt x="0" y="1897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7" id="7"/>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8" id="8"/>
          <p:cNvPicPr>
            <a:picLocks noChangeAspect="true"/>
          </p:cNvPicPr>
          <p:nvPr/>
        </p:nvPicPr>
        <p:blipFill>
          <a:blip r:embed="rId7"/>
          <a:srcRect l="0" t="0" r="0" b="0"/>
          <a:stretch>
            <a:fillRect/>
          </a:stretch>
        </p:blipFill>
        <p:spPr>
          <a:xfrm flipH="true" flipV="false" rot="0">
            <a:off x="6794074" y="8101041"/>
            <a:ext cx="4694331" cy="1971619"/>
          </a:xfrm>
          <a:prstGeom prst="rect">
            <a:avLst/>
          </a:prstGeom>
        </p:spPr>
      </p:pic>
      <p:sp>
        <p:nvSpPr>
          <p:cNvPr name="TextBox 9" id="9"/>
          <p:cNvSpPr txBox="true"/>
          <p:nvPr/>
        </p:nvSpPr>
        <p:spPr>
          <a:xfrm rot="0">
            <a:off x="5323715" y="1041234"/>
            <a:ext cx="8328603" cy="1605605"/>
          </a:xfrm>
          <a:prstGeom prst="rect">
            <a:avLst/>
          </a:prstGeom>
        </p:spPr>
        <p:txBody>
          <a:bodyPr anchor="t" rtlCol="false" tIns="0" lIns="0" bIns="0" rIns="0">
            <a:spAutoFit/>
          </a:bodyPr>
          <a:lstStyle/>
          <a:p>
            <a:pPr algn="ctr">
              <a:lnSpc>
                <a:spcPts val="10628"/>
              </a:lnSpc>
            </a:pPr>
            <a:r>
              <a:rPr lang="en-US" sz="13285">
                <a:solidFill>
                  <a:srgbClr val="000000"/>
                </a:solidFill>
                <a:latin typeface="Adlery Blockletter"/>
                <a:ea typeface="Adlery Blockletter"/>
                <a:cs typeface="Adlery Blockletter"/>
                <a:sym typeface="Adlery Blockletter"/>
              </a:rPr>
              <a:t>OUR TEAM </a:t>
            </a:r>
          </a:p>
        </p:txBody>
      </p:sp>
      <p:sp>
        <p:nvSpPr>
          <p:cNvPr name="TextBox 10" id="10"/>
          <p:cNvSpPr txBox="true"/>
          <p:nvPr/>
        </p:nvSpPr>
        <p:spPr>
          <a:xfrm rot="0">
            <a:off x="298918" y="3666014"/>
            <a:ext cx="5818532" cy="481965"/>
          </a:xfrm>
          <a:prstGeom prst="rect">
            <a:avLst/>
          </a:prstGeom>
        </p:spPr>
        <p:txBody>
          <a:bodyPr anchor="t" rtlCol="false" tIns="0" lIns="0" bIns="0" rIns="0">
            <a:spAutoFit/>
          </a:bodyPr>
          <a:lstStyle/>
          <a:p>
            <a:pPr algn="just">
              <a:lnSpc>
                <a:spcPts val="3600"/>
              </a:lnSpc>
            </a:pPr>
            <a:r>
              <a:rPr lang="en-US" sz="3600" b="true">
                <a:solidFill>
                  <a:srgbClr val="000000"/>
                </a:solidFill>
                <a:latin typeface="Anek Bangla Semi-Bold"/>
                <a:ea typeface="Anek Bangla Semi-Bold"/>
                <a:cs typeface="Anek Bangla Semi-Bold"/>
                <a:sym typeface="Anek Bangla Semi-Bold"/>
              </a:rPr>
              <a:t>Menna Allah Osama 23102157</a:t>
            </a:r>
          </a:p>
        </p:txBody>
      </p:sp>
      <p:sp>
        <p:nvSpPr>
          <p:cNvPr name="TextBox 11" id="11"/>
          <p:cNvSpPr txBox="true"/>
          <p:nvPr/>
        </p:nvSpPr>
        <p:spPr>
          <a:xfrm rot="0">
            <a:off x="6794074" y="3666014"/>
            <a:ext cx="6002696" cy="481965"/>
          </a:xfrm>
          <a:prstGeom prst="rect">
            <a:avLst/>
          </a:prstGeom>
        </p:spPr>
        <p:txBody>
          <a:bodyPr anchor="t" rtlCol="false" tIns="0" lIns="0" bIns="0" rIns="0">
            <a:spAutoFit/>
          </a:bodyPr>
          <a:lstStyle/>
          <a:p>
            <a:pPr algn="just">
              <a:lnSpc>
                <a:spcPts val="3600"/>
              </a:lnSpc>
            </a:pPr>
            <a:r>
              <a:rPr lang="en-US" sz="3600" b="true">
                <a:solidFill>
                  <a:srgbClr val="000000"/>
                </a:solidFill>
                <a:latin typeface="Anek Bangla Semi-Bold"/>
                <a:ea typeface="Anek Bangla Semi-Bold"/>
                <a:cs typeface="Anek Bangla Semi-Bold"/>
                <a:sym typeface="Anek Bangla Semi-Bold"/>
              </a:rPr>
              <a:t>Catherine Adel Zaki 23102369</a:t>
            </a:r>
          </a:p>
        </p:txBody>
      </p:sp>
      <p:sp>
        <p:nvSpPr>
          <p:cNvPr name="TextBox 12" id="12"/>
          <p:cNvSpPr txBox="true"/>
          <p:nvPr/>
        </p:nvSpPr>
        <p:spPr>
          <a:xfrm rot="0">
            <a:off x="298918" y="5358606"/>
            <a:ext cx="5024797" cy="481965"/>
          </a:xfrm>
          <a:prstGeom prst="rect">
            <a:avLst/>
          </a:prstGeom>
        </p:spPr>
        <p:txBody>
          <a:bodyPr anchor="t" rtlCol="false" tIns="0" lIns="0" bIns="0" rIns="0">
            <a:spAutoFit/>
          </a:bodyPr>
          <a:lstStyle/>
          <a:p>
            <a:pPr algn="just">
              <a:lnSpc>
                <a:spcPts val="3600"/>
              </a:lnSpc>
            </a:pPr>
            <a:r>
              <a:rPr lang="en-US" sz="3600" b="true">
                <a:solidFill>
                  <a:srgbClr val="000000"/>
                </a:solidFill>
                <a:latin typeface="Anek Bangla Semi-Bold"/>
                <a:ea typeface="Anek Bangla Semi-Bold"/>
                <a:cs typeface="Anek Bangla Semi-Bold"/>
                <a:sym typeface="Anek Bangla Semi-Bold"/>
              </a:rPr>
              <a:t>Soha Hossam 23101397</a:t>
            </a:r>
          </a:p>
        </p:txBody>
      </p:sp>
      <p:sp>
        <p:nvSpPr>
          <p:cNvPr name="TextBox 13" id="13"/>
          <p:cNvSpPr txBox="true"/>
          <p:nvPr/>
        </p:nvSpPr>
        <p:spPr>
          <a:xfrm rot="0">
            <a:off x="13652317" y="3666014"/>
            <a:ext cx="4418763" cy="481965"/>
          </a:xfrm>
          <a:prstGeom prst="rect">
            <a:avLst/>
          </a:prstGeom>
        </p:spPr>
        <p:txBody>
          <a:bodyPr anchor="t" rtlCol="false" tIns="0" lIns="0" bIns="0" rIns="0">
            <a:spAutoFit/>
          </a:bodyPr>
          <a:lstStyle/>
          <a:p>
            <a:pPr algn="just">
              <a:lnSpc>
                <a:spcPts val="3600"/>
              </a:lnSpc>
            </a:pPr>
            <a:r>
              <a:rPr lang="en-US" sz="3600" b="true">
                <a:solidFill>
                  <a:srgbClr val="000000"/>
                </a:solidFill>
                <a:latin typeface="Anek Bangla Semi-Bold"/>
                <a:ea typeface="Anek Bangla Semi-Bold"/>
                <a:cs typeface="Anek Bangla Semi-Bold"/>
                <a:sym typeface="Anek Bangla Semi-Bold"/>
              </a:rPr>
              <a:t>Arwa Mohey 23101371</a:t>
            </a:r>
          </a:p>
        </p:txBody>
      </p:sp>
      <p:sp>
        <p:nvSpPr>
          <p:cNvPr name="TextBox 14" id="14"/>
          <p:cNvSpPr txBox="true"/>
          <p:nvPr/>
        </p:nvSpPr>
        <p:spPr>
          <a:xfrm rot="0">
            <a:off x="13652317" y="5358606"/>
            <a:ext cx="4418763" cy="481965"/>
          </a:xfrm>
          <a:prstGeom prst="rect">
            <a:avLst/>
          </a:prstGeom>
        </p:spPr>
        <p:txBody>
          <a:bodyPr anchor="t" rtlCol="false" tIns="0" lIns="0" bIns="0" rIns="0">
            <a:spAutoFit/>
          </a:bodyPr>
          <a:lstStyle/>
          <a:p>
            <a:pPr algn="just">
              <a:lnSpc>
                <a:spcPts val="3600"/>
              </a:lnSpc>
            </a:pPr>
            <a:r>
              <a:rPr lang="en-US" sz="3600" b="true">
                <a:solidFill>
                  <a:srgbClr val="000000"/>
                </a:solidFill>
                <a:latin typeface="Anek Bangla Semi-Bold"/>
                <a:ea typeface="Anek Bangla Semi-Bold"/>
                <a:cs typeface="Anek Bangla Semi-Bold"/>
                <a:sym typeface="Anek Bangla Semi-Bold"/>
              </a:rPr>
              <a:t>Samira Saed 23101395</a:t>
            </a:r>
          </a:p>
        </p:txBody>
      </p:sp>
      <p:sp>
        <p:nvSpPr>
          <p:cNvPr name="TextBox 15" id="15"/>
          <p:cNvSpPr txBox="true"/>
          <p:nvPr/>
        </p:nvSpPr>
        <p:spPr>
          <a:xfrm rot="0">
            <a:off x="6715230" y="5358606"/>
            <a:ext cx="4773175" cy="481965"/>
          </a:xfrm>
          <a:prstGeom prst="rect">
            <a:avLst/>
          </a:prstGeom>
        </p:spPr>
        <p:txBody>
          <a:bodyPr anchor="t" rtlCol="false" tIns="0" lIns="0" bIns="0" rIns="0">
            <a:spAutoFit/>
          </a:bodyPr>
          <a:lstStyle/>
          <a:p>
            <a:pPr algn="just">
              <a:lnSpc>
                <a:spcPts val="3600"/>
              </a:lnSpc>
            </a:pPr>
            <a:r>
              <a:rPr lang="en-US" sz="3600" b="true">
                <a:solidFill>
                  <a:srgbClr val="000000"/>
                </a:solidFill>
                <a:latin typeface="Anek Bangla Semi-Bold"/>
                <a:ea typeface="Anek Bangla Semi-Bold"/>
                <a:cs typeface="Anek Bangla Semi-Bold"/>
                <a:sym typeface="Anek Bangla Semi-Bold"/>
              </a:rPr>
              <a:t>Mariam Nady 23101481</a:t>
            </a:r>
          </a:p>
        </p:txBody>
      </p:sp>
      <p:sp>
        <p:nvSpPr>
          <p:cNvPr name="TextBox 16" id="16"/>
          <p:cNvSpPr txBox="true"/>
          <p:nvPr/>
        </p:nvSpPr>
        <p:spPr>
          <a:xfrm rot="0">
            <a:off x="6592496" y="6859746"/>
            <a:ext cx="5243870" cy="481965"/>
          </a:xfrm>
          <a:prstGeom prst="rect">
            <a:avLst/>
          </a:prstGeom>
        </p:spPr>
        <p:txBody>
          <a:bodyPr anchor="t" rtlCol="false" tIns="0" lIns="0" bIns="0" rIns="0">
            <a:spAutoFit/>
          </a:bodyPr>
          <a:lstStyle/>
          <a:p>
            <a:pPr algn="just">
              <a:lnSpc>
                <a:spcPts val="3600"/>
              </a:lnSpc>
            </a:pPr>
            <a:r>
              <a:rPr lang="en-US" sz="3600" b="true">
                <a:solidFill>
                  <a:srgbClr val="000000"/>
                </a:solidFill>
                <a:latin typeface="Anek Bangla Semi-Bold"/>
                <a:ea typeface="Anek Bangla Semi-Bold"/>
                <a:cs typeface="Anek Bangla Semi-Bold"/>
                <a:sym typeface="Anek Bangla Semi-Bold"/>
              </a:rPr>
              <a:t>Veronica wassim </a:t>
            </a:r>
            <a:r>
              <a:rPr lang="en-US" sz="3600" b="true">
                <a:solidFill>
                  <a:srgbClr val="000000"/>
                </a:solidFill>
                <a:latin typeface="Anek Bangla Semi-Bold"/>
                <a:ea typeface="Anek Bangla Semi-Bold"/>
                <a:cs typeface="Anek Bangla Semi-Bold"/>
                <a:sym typeface="Anek Bangla Semi-Bold"/>
              </a:rPr>
              <a:t>23102401</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246161" y="8399349"/>
            <a:ext cx="7315200" cy="1422933"/>
          </a:xfrm>
          <a:custGeom>
            <a:avLst/>
            <a:gdLst/>
            <a:ahLst/>
            <a:cxnLst/>
            <a:rect r="r" b="b" t="t" l="l"/>
            <a:pathLst>
              <a:path h="1422933" w="7315200">
                <a:moveTo>
                  <a:pt x="0" y="0"/>
                </a:moveTo>
                <a:lnTo>
                  <a:pt x="7315200" y="0"/>
                </a:lnTo>
                <a:lnTo>
                  <a:pt x="7315200" y="1422933"/>
                </a:lnTo>
                <a:lnTo>
                  <a:pt x="0" y="14229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8399349"/>
            <a:ext cx="7315200" cy="1422933"/>
          </a:xfrm>
          <a:custGeom>
            <a:avLst/>
            <a:gdLst/>
            <a:ahLst/>
            <a:cxnLst/>
            <a:rect r="r" b="b" t="t" l="l"/>
            <a:pathLst>
              <a:path h="1422933" w="7315200">
                <a:moveTo>
                  <a:pt x="0" y="0"/>
                </a:moveTo>
                <a:lnTo>
                  <a:pt x="7315200" y="0"/>
                </a:lnTo>
                <a:lnTo>
                  <a:pt x="7315200" y="1422933"/>
                </a:lnTo>
                <a:lnTo>
                  <a:pt x="0" y="14229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8399349"/>
            <a:ext cx="7315200" cy="1422933"/>
          </a:xfrm>
          <a:custGeom>
            <a:avLst/>
            <a:gdLst/>
            <a:ahLst/>
            <a:cxnLst/>
            <a:rect r="r" b="b" t="t" l="l"/>
            <a:pathLst>
              <a:path h="1422933" w="7315200">
                <a:moveTo>
                  <a:pt x="0" y="0"/>
                </a:moveTo>
                <a:lnTo>
                  <a:pt x="7315200" y="0"/>
                </a:lnTo>
                <a:lnTo>
                  <a:pt x="7315200" y="1422933"/>
                </a:lnTo>
                <a:lnTo>
                  <a:pt x="0" y="14229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19002" y="952997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7" id="7"/>
          <p:cNvPicPr>
            <a:picLocks noChangeAspect="true"/>
          </p:cNvPicPr>
          <p:nvPr/>
        </p:nvPicPr>
        <p:blipFill>
          <a:blip r:embed="rId7"/>
          <a:srcRect l="0" t="0" r="0" b="0"/>
          <a:stretch>
            <a:fillRect/>
          </a:stretch>
        </p:blipFill>
        <p:spPr>
          <a:xfrm flipH="true" flipV="false" rot="0">
            <a:off x="1028700" y="8673592"/>
            <a:ext cx="3823395" cy="1337401"/>
          </a:xfrm>
          <a:prstGeom prst="rect">
            <a:avLst/>
          </a:prstGeom>
        </p:spPr>
      </p:pic>
      <p:pic>
        <p:nvPicPr>
          <p:cNvPr name="Picture 8" id="8"/>
          <p:cNvPicPr>
            <a:picLocks noChangeAspect="true"/>
          </p:cNvPicPr>
          <p:nvPr/>
        </p:nvPicPr>
        <p:blipFill>
          <a:blip r:embed="rId8"/>
          <a:srcRect l="0" t="0" r="0" b="0"/>
          <a:stretch>
            <a:fillRect/>
          </a:stretch>
        </p:blipFill>
        <p:spPr>
          <a:xfrm flipH="true" flipV="false" rot="0">
            <a:off x="13378732" y="8399349"/>
            <a:ext cx="3880568" cy="1717902"/>
          </a:xfrm>
          <a:prstGeom prst="rect">
            <a:avLst/>
          </a:prstGeom>
        </p:spPr>
      </p:pic>
      <p:sp>
        <p:nvSpPr>
          <p:cNvPr name="TextBox 9" id="9"/>
          <p:cNvSpPr txBox="true"/>
          <p:nvPr/>
        </p:nvSpPr>
        <p:spPr>
          <a:xfrm rot="0">
            <a:off x="4979699" y="1447800"/>
            <a:ext cx="8328603" cy="1605605"/>
          </a:xfrm>
          <a:prstGeom prst="rect">
            <a:avLst/>
          </a:prstGeom>
        </p:spPr>
        <p:txBody>
          <a:bodyPr anchor="t" rtlCol="false" tIns="0" lIns="0" bIns="0" rIns="0">
            <a:spAutoFit/>
          </a:bodyPr>
          <a:lstStyle/>
          <a:p>
            <a:pPr algn="ctr">
              <a:lnSpc>
                <a:spcPts val="10628"/>
              </a:lnSpc>
            </a:pPr>
            <a:r>
              <a:rPr lang="en-US" sz="13285">
                <a:solidFill>
                  <a:srgbClr val="000000"/>
                </a:solidFill>
                <a:latin typeface="Adlery Blockletter"/>
                <a:ea typeface="Adlery Blockletter"/>
                <a:cs typeface="Adlery Blockletter"/>
                <a:sym typeface="Adlery Blockletter"/>
              </a:rPr>
              <a:t>INTRODUCTION </a:t>
            </a:r>
          </a:p>
        </p:txBody>
      </p:sp>
      <p:sp>
        <p:nvSpPr>
          <p:cNvPr name="TextBox 10" id="10"/>
          <p:cNvSpPr txBox="true"/>
          <p:nvPr/>
        </p:nvSpPr>
        <p:spPr>
          <a:xfrm rot="0">
            <a:off x="3641526" y="3961649"/>
            <a:ext cx="11004949" cy="502920"/>
          </a:xfrm>
          <a:prstGeom prst="rect">
            <a:avLst/>
          </a:prstGeom>
        </p:spPr>
        <p:txBody>
          <a:bodyPr anchor="t" rtlCol="false" tIns="0" lIns="0" bIns="0" rIns="0">
            <a:spAutoFit/>
          </a:bodyPr>
          <a:lstStyle/>
          <a:p>
            <a:pPr algn="just">
              <a:lnSpc>
                <a:spcPts val="3960"/>
              </a:lnSpc>
            </a:pPr>
          </a:p>
        </p:txBody>
      </p:sp>
      <p:sp>
        <p:nvSpPr>
          <p:cNvPr name="TextBox 11" id="11"/>
          <p:cNvSpPr txBox="true"/>
          <p:nvPr/>
        </p:nvSpPr>
        <p:spPr>
          <a:xfrm rot="0">
            <a:off x="1099131" y="3598163"/>
            <a:ext cx="16230600" cy="3225165"/>
          </a:xfrm>
          <a:prstGeom prst="rect">
            <a:avLst/>
          </a:prstGeom>
        </p:spPr>
        <p:txBody>
          <a:bodyPr anchor="t" rtlCol="false" tIns="0" lIns="0" bIns="0" rIns="0">
            <a:spAutoFit/>
          </a:bodyPr>
          <a:lstStyle/>
          <a:p>
            <a:pPr algn="ctr">
              <a:lnSpc>
                <a:spcPts val="3600"/>
              </a:lnSpc>
              <a:spcBef>
                <a:spcPct val="0"/>
              </a:spcBef>
            </a:pPr>
            <a:r>
              <a:rPr lang="en-US" b="true" sz="3600">
                <a:solidFill>
                  <a:srgbClr val="000000"/>
                </a:solidFill>
                <a:latin typeface="Anek Bangla Semi-Bold"/>
                <a:ea typeface="Anek Bangla Semi-Bold"/>
                <a:cs typeface="Anek Bangla Semi-Bold"/>
                <a:sym typeface="Anek Bangla Semi-Bold"/>
              </a:rPr>
              <a:t>The Smart City Transportation Network Optimization project focuses on solving transportation challenges in Greater Cairo using advanced algorithmic techniques. The system integrates graph algorithms, shortest path optimization, dynamic programming, and greedy methods to improve traffic management, emergency routing, and public transportation efficiency. Our project simulates real transportation scenarios and provides optimized routing solutions under varying traffic conditions.</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246161"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7" id="7"/>
          <p:cNvPicPr>
            <a:picLocks noChangeAspect="true"/>
          </p:cNvPicPr>
          <p:nvPr/>
        </p:nvPicPr>
        <p:blipFill>
          <a:blip r:embed="rId7"/>
          <a:srcRect l="0" t="0" r="0" b="0"/>
          <a:stretch>
            <a:fillRect/>
          </a:stretch>
        </p:blipFill>
        <p:spPr>
          <a:xfrm flipH="true" flipV="false" rot="0">
            <a:off x="13378732" y="8589599"/>
            <a:ext cx="3823395" cy="1337401"/>
          </a:xfrm>
          <a:prstGeom prst="rect">
            <a:avLst/>
          </a:prstGeom>
        </p:spPr>
      </p:pic>
      <p:pic>
        <p:nvPicPr>
          <p:cNvPr name="Picture 8" id="8"/>
          <p:cNvPicPr>
            <a:picLocks noChangeAspect="true"/>
          </p:cNvPicPr>
          <p:nvPr/>
        </p:nvPicPr>
        <p:blipFill>
          <a:blip r:embed="rId8"/>
          <a:srcRect l="0" t="0" r="0" b="0"/>
          <a:stretch>
            <a:fillRect/>
          </a:stretch>
        </p:blipFill>
        <p:spPr>
          <a:xfrm flipH="true" flipV="false" rot="0">
            <a:off x="727493" y="626961"/>
            <a:ext cx="2896635" cy="1882812"/>
          </a:xfrm>
          <a:prstGeom prst="rect">
            <a:avLst/>
          </a:prstGeom>
        </p:spPr>
      </p:pic>
      <p:sp>
        <p:nvSpPr>
          <p:cNvPr name="TextBox 9" id="9"/>
          <p:cNvSpPr txBox="true"/>
          <p:nvPr/>
        </p:nvSpPr>
        <p:spPr>
          <a:xfrm rot="0">
            <a:off x="5050129" y="1513644"/>
            <a:ext cx="8328603" cy="1605605"/>
          </a:xfrm>
          <a:prstGeom prst="rect">
            <a:avLst/>
          </a:prstGeom>
        </p:spPr>
        <p:txBody>
          <a:bodyPr anchor="t" rtlCol="false" tIns="0" lIns="0" bIns="0" rIns="0">
            <a:spAutoFit/>
          </a:bodyPr>
          <a:lstStyle/>
          <a:p>
            <a:pPr algn="ctr">
              <a:lnSpc>
                <a:spcPts val="10628"/>
              </a:lnSpc>
            </a:pPr>
            <a:r>
              <a:rPr lang="en-US" sz="13285">
                <a:solidFill>
                  <a:srgbClr val="000000"/>
                </a:solidFill>
                <a:latin typeface="Adlery Blockletter"/>
                <a:ea typeface="Adlery Blockletter"/>
                <a:cs typeface="Adlery Blockletter"/>
                <a:sym typeface="Adlery Blockletter"/>
              </a:rPr>
              <a:t>Features</a:t>
            </a:r>
          </a:p>
        </p:txBody>
      </p:sp>
      <p:sp>
        <p:nvSpPr>
          <p:cNvPr name="Freeform 10" id="10"/>
          <p:cNvSpPr/>
          <p:nvPr/>
        </p:nvSpPr>
        <p:spPr>
          <a:xfrm flipH="false" flipV="false" rot="-2700000">
            <a:off x="2410684" y="3903522"/>
            <a:ext cx="1134072" cy="1134072"/>
          </a:xfrm>
          <a:custGeom>
            <a:avLst/>
            <a:gdLst/>
            <a:ahLst/>
            <a:cxnLst/>
            <a:rect r="r" b="b" t="t" l="l"/>
            <a:pathLst>
              <a:path h="1134072" w="1134072">
                <a:moveTo>
                  <a:pt x="0" y="0"/>
                </a:moveTo>
                <a:lnTo>
                  <a:pt x="1134072" y="0"/>
                </a:lnTo>
                <a:lnTo>
                  <a:pt x="1134072" y="1134072"/>
                </a:lnTo>
                <a:lnTo>
                  <a:pt x="0" y="1134072"/>
                </a:lnTo>
                <a:lnTo>
                  <a:pt x="0" y="0"/>
                </a:lnTo>
                <a:close/>
              </a:path>
            </a:pathLst>
          </a:custGeom>
          <a:blipFill>
            <a:blip r:embed="rId9"/>
            <a:stretch>
              <a:fillRect l="0" t="0" r="0" b="0"/>
            </a:stretch>
          </a:blipFill>
        </p:spPr>
      </p:sp>
      <p:sp>
        <p:nvSpPr>
          <p:cNvPr name="TextBox 11" id="11"/>
          <p:cNvSpPr txBox="true"/>
          <p:nvPr/>
        </p:nvSpPr>
        <p:spPr>
          <a:xfrm rot="0">
            <a:off x="4168968" y="3706748"/>
            <a:ext cx="12086580" cy="2979420"/>
          </a:xfrm>
          <a:prstGeom prst="rect">
            <a:avLst/>
          </a:prstGeom>
        </p:spPr>
        <p:txBody>
          <a:bodyPr anchor="t" rtlCol="false" tIns="0" lIns="0" bIns="0" rIns="0">
            <a:spAutoFit/>
          </a:bodyPr>
          <a:lstStyle/>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Transportation network graph representation</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Traffic flow optimization</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Emergency vehicle routing</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Public transportation scheduling</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Congestion-aware route planning</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Real-time traffic simulation</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246161"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7" id="7"/>
          <p:cNvPicPr>
            <a:picLocks noChangeAspect="true"/>
          </p:cNvPicPr>
          <p:nvPr/>
        </p:nvPicPr>
        <p:blipFill>
          <a:blip r:embed="rId7"/>
          <a:srcRect l="0" t="0" r="0" b="0"/>
          <a:stretch>
            <a:fillRect/>
          </a:stretch>
        </p:blipFill>
        <p:spPr>
          <a:xfrm flipH="true" flipV="false" rot="0">
            <a:off x="13378732" y="8589599"/>
            <a:ext cx="3823395" cy="1337401"/>
          </a:xfrm>
          <a:prstGeom prst="rect">
            <a:avLst/>
          </a:prstGeom>
        </p:spPr>
      </p:pic>
      <p:pic>
        <p:nvPicPr>
          <p:cNvPr name="Picture 8" id="8"/>
          <p:cNvPicPr>
            <a:picLocks noChangeAspect="true"/>
          </p:cNvPicPr>
          <p:nvPr/>
        </p:nvPicPr>
        <p:blipFill>
          <a:blip r:embed="rId8"/>
          <a:srcRect l="0" t="0" r="0" b="0"/>
          <a:stretch>
            <a:fillRect/>
          </a:stretch>
        </p:blipFill>
        <p:spPr>
          <a:xfrm flipH="true" flipV="false" rot="0">
            <a:off x="727493" y="626961"/>
            <a:ext cx="2896635" cy="1882812"/>
          </a:xfrm>
          <a:prstGeom prst="rect">
            <a:avLst/>
          </a:prstGeom>
        </p:spPr>
      </p:pic>
      <p:sp>
        <p:nvSpPr>
          <p:cNvPr name="TextBox 9" id="9"/>
          <p:cNvSpPr txBox="true"/>
          <p:nvPr/>
        </p:nvSpPr>
        <p:spPr>
          <a:xfrm rot="0">
            <a:off x="5050129" y="1513644"/>
            <a:ext cx="8328603" cy="1605605"/>
          </a:xfrm>
          <a:prstGeom prst="rect">
            <a:avLst/>
          </a:prstGeom>
        </p:spPr>
        <p:txBody>
          <a:bodyPr anchor="t" rtlCol="false" tIns="0" lIns="0" bIns="0" rIns="0">
            <a:spAutoFit/>
          </a:bodyPr>
          <a:lstStyle/>
          <a:p>
            <a:pPr algn="ctr">
              <a:lnSpc>
                <a:spcPts val="10628"/>
              </a:lnSpc>
            </a:pPr>
            <a:r>
              <a:rPr lang="en-US" sz="13285">
                <a:solidFill>
                  <a:srgbClr val="000000"/>
                </a:solidFill>
                <a:latin typeface="Adlery Blockletter"/>
                <a:ea typeface="Adlery Blockletter"/>
                <a:cs typeface="Adlery Blockletter"/>
                <a:sym typeface="Adlery Blockletter"/>
              </a:rPr>
              <a:t>Features</a:t>
            </a:r>
          </a:p>
        </p:txBody>
      </p:sp>
      <p:sp>
        <p:nvSpPr>
          <p:cNvPr name="Freeform 10" id="10"/>
          <p:cNvSpPr/>
          <p:nvPr/>
        </p:nvSpPr>
        <p:spPr>
          <a:xfrm flipH="false" flipV="false" rot="-2700000">
            <a:off x="2410684" y="3903522"/>
            <a:ext cx="1134072" cy="1134072"/>
          </a:xfrm>
          <a:custGeom>
            <a:avLst/>
            <a:gdLst/>
            <a:ahLst/>
            <a:cxnLst/>
            <a:rect r="r" b="b" t="t" l="l"/>
            <a:pathLst>
              <a:path h="1134072" w="1134072">
                <a:moveTo>
                  <a:pt x="0" y="0"/>
                </a:moveTo>
                <a:lnTo>
                  <a:pt x="1134072" y="0"/>
                </a:lnTo>
                <a:lnTo>
                  <a:pt x="1134072" y="1134072"/>
                </a:lnTo>
                <a:lnTo>
                  <a:pt x="0" y="1134072"/>
                </a:lnTo>
                <a:lnTo>
                  <a:pt x="0" y="0"/>
                </a:lnTo>
                <a:close/>
              </a:path>
            </a:pathLst>
          </a:custGeom>
          <a:blipFill>
            <a:blip r:embed="rId9"/>
            <a:stretch>
              <a:fillRect l="0" t="0" r="0" b="0"/>
            </a:stretch>
          </a:blipFill>
        </p:spPr>
      </p:sp>
      <p:sp>
        <p:nvSpPr>
          <p:cNvPr name="TextBox 11" id="11"/>
          <p:cNvSpPr txBox="true"/>
          <p:nvPr/>
        </p:nvSpPr>
        <p:spPr>
          <a:xfrm rot="0">
            <a:off x="4168968" y="3706748"/>
            <a:ext cx="12086580" cy="2979420"/>
          </a:xfrm>
          <a:prstGeom prst="rect">
            <a:avLst/>
          </a:prstGeom>
        </p:spPr>
        <p:txBody>
          <a:bodyPr anchor="t" rtlCol="false" tIns="0" lIns="0" bIns="0" rIns="0">
            <a:spAutoFit/>
          </a:bodyPr>
          <a:lstStyle/>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Transportation network graph representation</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Traffic flow optimization</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Emergency vehicle routing</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Public transportation scheduling</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Congestion-aware route planning</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Real-time traffic simulation</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246161"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7" id="7"/>
          <p:cNvPicPr>
            <a:picLocks noChangeAspect="true"/>
          </p:cNvPicPr>
          <p:nvPr/>
        </p:nvPicPr>
        <p:blipFill>
          <a:blip r:embed="rId7"/>
          <a:srcRect l="0" t="0" r="0" b="0"/>
          <a:stretch>
            <a:fillRect/>
          </a:stretch>
        </p:blipFill>
        <p:spPr>
          <a:xfrm flipH="true" flipV="false" rot="0">
            <a:off x="13378732" y="8589599"/>
            <a:ext cx="3823395" cy="1337401"/>
          </a:xfrm>
          <a:prstGeom prst="rect">
            <a:avLst/>
          </a:prstGeom>
        </p:spPr>
      </p:pic>
      <p:sp>
        <p:nvSpPr>
          <p:cNvPr name="Freeform 8" id="8"/>
          <p:cNvSpPr/>
          <p:nvPr/>
        </p:nvSpPr>
        <p:spPr>
          <a:xfrm flipH="false" flipV="false" rot="-2700000">
            <a:off x="2410684" y="4246232"/>
            <a:ext cx="1134072" cy="1134072"/>
          </a:xfrm>
          <a:custGeom>
            <a:avLst/>
            <a:gdLst/>
            <a:ahLst/>
            <a:cxnLst/>
            <a:rect r="r" b="b" t="t" l="l"/>
            <a:pathLst>
              <a:path h="1134072" w="1134072">
                <a:moveTo>
                  <a:pt x="0" y="0"/>
                </a:moveTo>
                <a:lnTo>
                  <a:pt x="1134072" y="0"/>
                </a:lnTo>
                <a:lnTo>
                  <a:pt x="1134072" y="1134072"/>
                </a:lnTo>
                <a:lnTo>
                  <a:pt x="0" y="1134072"/>
                </a:lnTo>
                <a:lnTo>
                  <a:pt x="0" y="0"/>
                </a:lnTo>
                <a:close/>
              </a:path>
            </a:pathLst>
          </a:custGeom>
          <a:blipFill>
            <a:blip r:embed="rId8"/>
            <a:stretch>
              <a:fillRect l="0" t="0" r="0" b="0"/>
            </a:stretch>
          </a:blipFill>
        </p:spPr>
      </p:sp>
      <p:sp>
        <p:nvSpPr>
          <p:cNvPr name="TextBox 9" id="9"/>
          <p:cNvSpPr txBox="true"/>
          <p:nvPr/>
        </p:nvSpPr>
        <p:spPr>
          <a:xfrm rot="0">
            <a:off x="4168968" y="4049458"/>
            <a:ext cx="12086580" cy="2484120"/>
          </a:xfrm>
          <a:prstGeom prst="rect">
            <a:avLst/>
          </a:prstGeom>
        </p:spPr>
        <p:txBody>
          <a:bodyPr anchor="t" rtlCol="false" tIns="0" lIns="0" bIns="0" rIns="0">
            <a:spAutoFit/>
          </a:bodyPr>
          <a:lstStyle/>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Efficient shortest path computation</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Suitable for weighted road networks</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Works well for GPS-style navigation</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Easy to adapt for transportation systems</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Supports traffic-based modifications</a:t>
            </a:r>
          </a:p>
        </p:txBody>
      </p:sp>
      <p:sp>
        <p:nvSpPr>
          <p:cNvPr name="TextBox 10" id="10"/>
          <p:cNvSpPr txBox="true"/>
          <p:nvPr/>
        </p:nvSpPr>
        <p:spPr>
          <a:xfrm rot="0">
            <a:off x="1673207" y="695325"/>
            <a:ext cx="14176058" cy="2348598"/>
          </a:xfrm>
          <a:prstGeom prst="rect">
            <a:avLst/>
          </a:prstGeom>
        </p:spPr>
        <p:txBody>
          <a:bodyPr anchor="t" rtlCol="false" tIns="0" lIns="0" bIns="0" rIns="0">
            <a:spAutoFit/>
          </a:bodyPr>
          <a:lstStyle/>
          <a:p>
            <a:pPr algn="ctr">
              <a:lnSpc>
                <a:spcPts val="18599"/>
              </a:lnSpc>
              <a:spcBef>
                <a:spcPct val="0"/>
              </a:spcBef>
            </a:pPr>
            <a:r>
              <a:rPr lang="en-US" sz="13285">
                <a:solidFill>
                  <a:srgbClr val="000000"/>
                </a:solidFill>
                <a:latin typeface="Adlery Blockletter"/>
                <a:ea typeface="Adlery Blockletter"/>
                <a:cs typeface="Adlery Blockletter"/>
                <a:sym typeface="Adlery Blockletter"/>
              </a:rPr>
              <a:t>Why Dijkstra’s Algorithm?</a:t>
            </a:r>
          </a:p>
        </p:txBody>
      </p:sp>
      <p:sp>
        <p:nvSpPr>
          <p:cNvPr name="Freeform 11" id="11"/>
          <p:cNvSpPr/>
          <p:nvPr/>
        </p:nvSpPr>
        <p:spPr>
          <a:xfrm flipH="false" flipV="false" rot="0">
            <a:off x="-93761" y="-1578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pic>
        <p:nvPicPr>
          <p:cNvPr name="Picture 12" id="12"/>
          <p:cNvPicPr>
            <a:picLocks noChangeAspect="true"/>
          </p:cNvPicPr>
          <p:nvPr/>
        </p:nvPicPr>
        <p:blipFill>
          <a:blip r:embed="rId9"/>
          <a:srcRect l="0" t="0" r="0" b="0"/>
          <a:stretch>
            <a:fillRect/>
          </a:stretch>
        </p:blipFill>
        <p:spPr>
          <a:xfrm flipH="true" flipV="false" rot="0">
            <a:off x="514804" y="427492"/>
            <a:ext cx="2896635" cy="1882812"/>
          </a:xfrm>
          <a:prstGeom prst="rect">
            <a:avLst/>
          </a:prstGeom>
        </p:spPr>
      </p:pic>
      <p:sp>
        <p:nvSpPr>
          <p:cNvPr name="Freeform 13" id="13"/>
          <p:cNvSpPr/>
          <p:nvPr/>
        </p:nvSpPr>
        <p:spPr>
          <a:xfrm flipH="false" flipV="false" rot="0">
            <a:off x="-539793" y="9494693"/>
            <a:ext cx="19666864" cy="2073960"/>
          </a:xfrm>
          <a:custGeom>
            <a:avLst/>
            <a:gdLst/>
            <a:ahLst/>
            <a:cxnLst/>
            <a:rect r="r" b="b" t="t" l="l"/>
            <a:pathLst>
              <a:path h="2073960" w="19666864">
                <a:moveTo>
                  <a:pt x="0" y="0"/>
                </a:moveTo>
                <a:lnTo>
                  <a:pt x="19666864" y="0"/>
                </a:lnTo>
                <a:lnTo>
                  <a:pt x="19666864"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14" id="14"/>
          <p:cNvPicPr>
            <a:picLocks noChangeAspect="true"/>
          </p:cNvPicPr>
          <p:nvPr/>
        </p:nvPicPr>
        <p:blipFill>
          <a:blip r:embed="rId10"/>
          <a:srcRect l="0" t="0" r="0" b="0"/>
          <a:stretch>
            <a:fillRect/>
          </a:stretch>
        </p:blipFill>
        <p:spPr>
          <a:xfrm flipH="true" flipV="false" rot="0">
            <a:off x="14174901" y="8245898"/>
            <a:ext cx="3084399" cy="1850639"/>
          </a:xfrm>
          <a:prstGeom prst="rect">
            <a:avLst/>
          </a:prstGeom>
        </p:spPr>
      </p:pic>
      <p:sp>
        <p:nvSpPr>
          <p:cNvPr name="TextBox 15" id="15"/>
          <p:cNvSpPr txBox="true"/>
          <p:nvPr/>
        </p:nvSpPr>
        <p:spPr>
          <a:xfrm rot="0">
            <a:off x="1600209" y="2405753"/>
            <a:ext cx="15082060" cy="1605605"/>
          </a:xfrm>
          <a:prstGeom prst="rect">
            <a:avLst/>
          </a:prstGeom>
        </p:spPr>
        <p:txBody>
          <a:bodyPr anchor="t" rtlCol="false" tIns="0" lIns="0" bIns="0" rIns="0">
            <a:spAutoFit/>
          </a:bodyPr>
          <a:lstStyle/>
          <a:p>
            <a:pPr algn="ctr">
              <a:lnSpc>
                <a:spcPts val="10628"/>
              </a:lnSpc>
            </a:pPr>
            <a:r>
              <a:rPr lang="en-US" sz="13285">
                <a:solidFill>
                  <a:srgbClr val="000000"/>
                </a:solidFill>
                <a:latin typeface="Adlery Blockletter"/>
                <a:ea typeface="Adlery Blockletter"/>
                <a:cs typeface="Adlery Blockletter"/>
                <a:sym typeface="Adlery Blockletter"/>
              </a:rPr>
              <a:t>Dijkstra’s Algorithm</a:t>
            </a:r>
          </a:p>
        </p:txBody>
      </p:sp>
      <p:sp>
        <p:nvSpPr>
          <p:cNvPr name="TextBox 16" id="16"/>
          <p:cNvSpPr txBox="true"/>
          <p:nvPr/>
        </p:nvSpPr>
        <p:spPr>
          <a:xfrm rot="0">
            <a:off x="1986761" y="4639818"/>
            <a:ext cx="15026316" cy="1988820"/>
          </a:xfrm>
          <a:prstGeom prst="rect">
            <a:avLst/>
          </a:prstGeom>
        </p:spPr>
        <p:txBody>
          <a:bodyPr anchor="t" rtlCol="false" tIns="0" lIns="0" bIns="0" rIns="0">
            <a:spAutoFit/>
          </a:bodyPr>
          <a:lstStyle/>
          <a:p>
            <a:pPr algn="l">
              <a:lnSpc>
                <a:spcPts val="3960"/>
              </a:lnSpc>
            </a:pPr>
            <a:r>
              <a:rPr lang="en-US" sz="3600" b="true">
                <a:solidFill>
                  <a:srgbClr val="000000"/>
                </a:solidFill>
                <a:latin typeface="Anek Bangla Semi-Bold"/>
                <a:ea typeface="Anek Bangla Semi-Bold"/>
                <a:cs typeface="Anek Bangla Semi-Bold"/>
                <a:sym typeface="Anek Bangla Semi-Bold"/>
              </a:rPr>
              <a:t>Dijkstra’s Algorithm is a greedy shortest path algorithm used to compute the minimum distance between a source node and all other nodes in a weighted graph. The algorithm repeatedly selects the node with the smallest known distance and updates neighboring distances through edge relaxation.</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246161"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7" id="7"/>
          <p:cNvPicPr>
            <a:picLocks noChangeAspect="true"/>
          </p:cNvPicPr>
          <p:nvPr/>
        </p:nvPicPr>
        <p:blipFill>
          <a:blip r:embed="rId7"/>
          <a:srcRect l="0" t="0" r="0" b="0"/>
          <a:stretch>
            <a:fillRect/>
          </a:stretch>
        </p:blipFill>
        <p:spPr>
          <a:xfrm flipH="true" flipV="false" rot="0">
            <a:off x="7232303" y="8589599"/>
            <a:ext cx="3823395" cy="1337401"/>
          </a:xfrm>
          <a:prstGeom prst="rect">
            <a:avLst/>
          </a:prstGeom>
        </p:spPr>
      </p:pic>
      <p:sp>
        <p:nvSpPr>
          <p:cNvPr name="TextBox 8" id="8"/>
          <p:cNvSpPr txBox="true"/>
          <p:nvPr/>
        </p:nvSpPr>
        <p:spPr>
          <a:xfrm rot="0">
            <a:off x="3338441" y="1447800"/>
            <a:ext cx="11605597" cy="1605605"/>
          </a:xfrm>
          <a:prstGeom prst="rect">
            <a:avLst/>
          </a:prstGeom>
        </p:spPr>
        <p:txBody>
          <a:bodyPr anchor="t" rtlCol="false" tIns="0" lIns="0" bIns="0" rIns="0">
            <a:spAutoFit/>
          </a:bodyPr>
          <a:lstStyle/>
          <a:p>
            <a:pPr algn="ctr">
              <a:lnSpc>
                <a:spcPts val="10628"/>
              </a:lnSpc>
            </a:pPr>
            <a:r>
              <a:rPr lang="en-US" sz="13285">
                <a:solidFill>
                  <a:srgbClr val="000000"/>
                </a:solidFill>
                <a:latin typeface="Adlery Blockletter"/>
                <a:ea typeface="Adlery Blockletter"/>
                <a:cs typeface="Adlery Blockletter"/>
                <a:sym typeface="Adlery Blockletter"/>
              </a:rPr>
              <a:t>Main Characteristics</a:t>
            </a:r>
          </a:p>
        </p:txBody>
      </p:sp>
      <p:sp>
        <p:nvSpPr>
          <p:cNvPr name="TextBox 9" id="9"/>
          <p:cNvSpPr txBox="true"/>
          <p:nvPr/>
        </p:nvSpPr>
        <p:spPr>
          <a:xfrm rot="0">
            <a:off x="4025609" y="3595623"/>
            <a:ext cx="12086580" cy="2979420"/>
          </a:xfrm>
          <a:prstGeom prst="rect">
            <a:avLst/>
          </a:prstGeom>
        </p:spPr>
        <p:txBody>
          <a:bodyPr anchor="t" rtlCol="false" tIns="0" lIns="0" bIns="0" rIns="0">
            <a:spAutoFit/>
          </a:bodyPr>
          <a:lstStyle/>
          <a:p>
            <a:pPr algn="just"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Greedy algorithm</a:t>
            </a:r>
          </a:p>
          <a:p>
            <a:pPr algn="just"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Works on weighted graphs</a:t>
            </a:r>
          </a:p>
          <a:p>
            <a:pPr algn="just"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Requires non-negative edge weights</a:t>
            </a:r>
          </a:p>
          <a:p>
            <a:pPr algn="just"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Produces optimal shortest paths</a:t>
            </a:r>
          </a:p>
          <a:p>
            <a:pPr algn="just"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Uses a priority queue for efficiency</a:t>
            </a:r>
          </a:p>
          <a:p>
            <a:pPr algn="just">
              <a:lnSpc>
                <a:spcPts val="3960"/>
              </a:lnSpc>
            </a:pPr>
          </a:p>
        </p:txBody>
      </p:sp>
      <p:sp>
        <p:nvSpPr>
          <p:cNvPr name="Freeform 10" id="10"/>
          <p:cNvSpPr/>
          <p:nvPr/>
        </p:nvSpPr>
        <p:spPr>
          <a:xfrm flipH="false" flipV="false" rot="0">
            <a:off x="2175810" y="3523615"/>
            <a:ext cx="1619885" cy="1619885"/>
          </a:xfrm>
          <a:custGeom>
            <a:avLst/>
            <a:gdLst/>
            <a:ahLst/>
            <a:cxnLst/>
            <a:rect r="r" b="b" t="t" l="l"/>
            <a:pathLst>
              <a:path h="1619885" w="1619885">
                <a:moveTo>
                  <a:pt x="0" y="0"/>
                </a:moveTo>
                <a:lnTo>
                  <a:pt x="1619885" y="0"/>
                </a:lnTo>
                <a:lnTo>
                  <a:pt x="1619885" y="1619885"/>
                </a:lnTo>
                <a:lnTo>
                  <a:pt x="0" y="16198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246161"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963323" y="1447800"/>
            <a:ext cx="12944890" cy="1605605"/>
          </a:xfrm>
          <a:prstGeom prst="rect">
            <a:avLst/>
          </a:prstGeom>
        </p:spPr>
        <p:txBody>
          <a:bodyPr anchor="t" rtlCol="false" tIns="0" lIns="0" bIns="0" rIns="0">
            <a:spAutoFit/>
          </a:bodyPr>
          <a:lstStyle/>
          <a:p>
            <a:pPr algn="ctr">
              <a:lnSpc>
                <a:spcPts val="10628"/>
              </a:lnSpc>
            </a:pPr>
            <a:r>
              <a:rPr lang="en-US" sz="13285">
                <a:solidFill>
                  <a:srgbClr val="000000"/>
                </a:solidFill>
                <a:latin typeface="Adlery Blockletter"/>
                <a:ea typeface="Adlery Blockletter"/>
                <a:cs typeface="Adlery Blockletter"/>
                <a:sym typeface="Adlery Blockletter"/>
              </a:rPr>
              <a:t>Graph Representation</a:t>
            </a:r>
          </a:p>
        </p:txBody>
      </p:sp>
      <p:sp>
        <p:nvSpPr>
          <p:cNvPr name="TextBox 8" id="8"/>
          <p:cNvSpPr txBox="true"/>
          <p:nvPr/>
        </p:nvSpPr>
        <p:spPr>
          <a:xfrm rot="0">
            <a:off x="2775524" y="4168140"/>
            <a:ext cx="13845079" cy="1988820"/>
          </a:xfrm>
          <a:prstGeom prst="rect">
            <a:avLst/>
          </a:prstGeom>
        </p:spPr>
        <p:txBody>
          <a:bodyPr anchor="t" rtlCol="false" tIns="0" lIns="0" bIns="0" rIns="0">
            <a:spAutoFit/>
          </a:bodyPr>
          <a:lstStyle/>
          <a:p>
            <a:pPr algn="l">
              <a:lnSpc>
                <a:spcPts val="3960"/>
              </a:lnSpc>
            </a:pPr>
            <a:r>
              <a:rPr lang="en-US" sz="3600" b="true">
                <a:solidFill>
                  <a:srgbClr val="000000"/>
                </a:solidFill>
                <a:latin typeface="Anek Bangla Semi-Bold"/>
                <a:ea typeface="Anek Bangla Semi-Bold"/>
                <a:cs typeface="Anek Bangla Semi-Bold"/>
                <a:sym typeface="Anek Bangla Semi-Bold"/>
              </a:rPr>
              <a:t>In our transportation system, the road network is modeled as a weighted graph where intersections are represented as vertices and roads are represented as weighted edges. Edge weights represent travel time, distance, or congestion cost between locations.</a:t>
            </a:r>
          </a:p>
        </p:txBody>
      </p:sp>
      <p:pic>
        <p:nvPicPr>
          <p:cNvPr name="Picture 9" id="9"/>
          <p:cNvPicPr>
            <a:picLocks noChangeAspect="true"/>
          </p:cNvPicPr>
          <p:nvPr/>
        </p:nvPicPr>
        <p:blipFill>
          <a:blip r:embed="rId7"/>
          <a:srcRect l="0" t="0" r="0" b="0"/>
          <a:stretch>
            <a:fillRect/>
          </a:stretch>
        </p:blipFill>
        <p:spPr>
          <a:xfrm flipH="true" flipV="false" rot="0">
            <a:off x="7013552" y="8193214"/>
            <a:ext cx="4255374" cy="1883826"/>
          </a:xfrm>
          <a:prstGeom prst="rect">
            <a:avLst/>
          </a:prstGeom>
        </p:spPr>
      </p:pic>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246161"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7" id="7"/>
          <p:cNvPicPr>
            <a:picLocks noChangeAspect="true"/>
          </p:cNvPicPr>
          <p:nvPr/>
        </p:nvPicPr>
        <p:blipFill>
          <a:blip r:embed="rId7"/>
          <a:srcRect l="0" t="0" r="0" b="0"/>
          <a:stretch>
            <a:fillRect/>
          </a:stretch>
        </p:blipFill>
        <p:spPr>
          <a:xfrm flipH="false" flipV="false" rot="0">
            <a:off x="514804" y="135137"/>
            <a:ext cx="2896635" cy="1882812"/>
          </a:xfrm>
          <a:prstGeom prst="rect">
            <a:avLst/>
          </a:prstGeom>
        </p:spPr>
      </p:pic>
      <p:sp>
        <p:nvSpPr>
          <p:cNvPr name="TextBox 8" id="8"/>
          <p:cNvSpPr txBox="true"/>
          <p:nvPr/>
        </p:nvSpPr>
        <p:spPr>
          <a:xfrm rot="0">
            <a:off x="2963323" y="1424697"/>
            <a:ext cx="12944890" cy="1605605"/>
          </a:xfrm>
          <a:prstGeom prst="rect">
            <a:avLst/>
          </a:prstGeom>
        </p:spPr>
        <p:txBody>
          <a:bodyPr anchor="t" rtlCol="false" tIns="0" lIns="0" bIns="0" rIns="0">
            <a:spAutoFit/>
          </a:bodyPr>
          <a:lstStyle/>
          <a:p>
            <a:pPr algn="ctr">
              <a:lnSpc>
                <a:spcPts val="10628"/>
              </a:lnSpc>
            </a:pPr>
            <a:r>
              <a:rPr lang="en-US" sz="13285">
                <a:solidFill>
                  <a:srgbClr val="000000"/>
                </a:solidFill>
                <a:latin typeface="Adlery Blockletter"/>
                <a:ea typeface="Adlery Blockletter"/>
                <a:cs typeface="Adlery Blockletter"/>
                <a:sym typeface="Adlery Blockletter"/>
              </a:rPr>
              <a:t>Graph Representation</a:t>
            </a:r>
          </a:p>
        </p:txBody>
      </p:sp>
      <p:pic>
        <p:nvPicPr>
          <p:cNvPr name="Picture 9" id="9"/>
          <p:cNvPicPr>
            <a:picLocks noChangeAspect="true"/>
          </p:cNvPicPr>
          <p:nvPr/>
        </p:nvPicPr>
        <p:blipFill>
          <a:blip r:embed="rId8"/>
          <a:srcRect l="0" t="0" r="0" b="0"/>
          <a:stretch>
            <a:fillRect/>
          </a:stretch>
        </p:blipFill>
        <p:spPr>
          <a:xfrm flipH="true" flipV="false" rot="0">
            <a:off x="7013552" y="8193214"/>
            <a:ext cx="4255374" cy="1883826"/>
          </a:xfrm>
          <a:prstGeom prst="rect">
            <a:avLst/>
          </a:prstGeom>
        </p:spPr>
      </p:pic>
      <p:sp>
        <p:nvSpPr>
          <p:cNvPr name="TextBox 10" id="10"/>
          <p:cNvSpPr txBox="true"/>
          <p:nvPr/>
        </p:nvSpPr>
        <p:spPr>
          <a:xfrm rot="0">
            <a:off x="2231272" y="3672840"/>
            <a:ext cx="7980986" cy="2979420"/>
          </a:xfrm>
          <a:prstGeom prst="rect">
            <a:avLst/>
          </a:prstGeom>
        </p:spPr>
        <p:txBody>
          <a:bodyPr anchor="t" rtlCol="false" tIns="0" lIns="0" bIns="0" rIns="0">
            <a:spAutoFit/>
          </a:bodyPr>
          <a:lstStyle/>
          <a:p>
            <a:pPr algn="just"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Vertices → Intersections / Locations</a:t>
            </a:r>
          </a:p>
          <a:p>
            <a:pPr algn="just"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Edges → Roads</a:t>
            </a:r>
          </a:p>
          <a:p>
            <a:pPr algn="just"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Weights → Travel time or distance</a:t>
            </a:r>
          </a:p>
          <a:p>
            <a:pPr algn="just"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Source node → Starting location</a:t>
            </a:r>
          </a:p>
          <a:p>
            <a:pPr algn="just"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Destination node → Target location</a:t>
            </a:r>
          </a:p>
          <a:p>
            <a:pPr algn="just">
              <a:lnSpc>
                <a:spcPts val="3960"/>
              </a:lnSpc>
            </a:pPr>
          </a:p>
        </p:txBody>
      </p:sp>
      <p:sp>
        <p:nvSpPr>
          <p:cNvPr name="TextBox 11" id="11"/>
          <p:cNvSpPr txBox="true"/>
          <p:nvPr/>
        </p:nvSpPr>
        <p:spPr>
          <a:xfrm rot="0">
            <a:off x="11268926" y="3672840"/>
            <a:ext cx="6087604" cy="2484120"/>
          </a:xfrm>
          <a:prstGeom prst="rect">
            <a:avLst/>
          </a:prstGeom>
        </p:spPr>
        <p:txBody>
          <a:bodyPr anchor="t" rtlCol="false" tIns="0" lIns="0" bIns="0" rIns="0">
            <a:spAutoFit/>
          </a:bodyPr>
          <a:lstStyle/>
          <a:p>
            <a:pPr algn="l">
              <a:lnSpc>
                <a:spcPts val="3960"/>
              </a:lnSpc>
            </a:pPr>
            <a:r>
              <a:rPr lang="en-US" sz="3600" b="true">
                <a:solidFill>
                  <a:srgbClr val="000000"/>
                </a:solidFill>
                <a:latin typeface="Anek Bangla Semi-Bold"/>
                <a:ea typeface="Anek Bangla Semi-Bold"/>
                <a:cs typeface="Anek Bangla Semi-Bold"/>
                <a:sym typeface="Anek Bangla Semi-Bold"/>
              </a:rPr>
              <a:t>G=(V,E,w)</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V = set of vertices</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E = set of edges</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w = edge weight function</a:t>
            </a:r>
          </a:p>
          <a:p>
            <a:pPr algn="l">
              <a:lnSpc>
                <a:spcPts val="3960"/>
              </a:lnSpc>
            </a:pPr>
          </a:p>
        </p:txBody>
      </p:sp>
      <p:sp>
        <p:nvSpPr>
          <p:cNvPr name="Freeform 12" id="12"/>
          <p:cNvSpPr/>
          <p:nvPr/>
        </p:nvSpPr>
        <p:spPr>
          <a:xfrm flipH="false" flipV="false" rot="0">
            <a:off x="-93761" y="-1578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13" id="13"/>
          <p:cNvSpPr/>
          <p:nvPr/>
        </p:nvSpPr>
        <p:spPr>
          <a:xfrm flipH="false" flipV="false" rot="0">
            <a:off x="-466602" y="96470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14" id="14"/>
          <p:cNvPicPr>
            <a:picLocks noChangeAspect="true"/>
          </p:cNvPicPr>
          <p:nvPr/>
        </p:nvPicPr>
        <p:blipFill>
          <a:blip r:embed="rId9"/>
          <a:srcRect l="0" t="0" r="0" b="0"/>
          <a:stretch>
            <a:fillRect/>
          </a:stretch>
        </p:blipFill>
        <p:spPr>
          <a:xfrm flipH="true" flipV="false" rot="0">
            <a:off x="7182535" y="8434485"/>
            <a:ext cx="3922929" cy="1647630"/>
          </a:xfrm>
          <a:prstGeom prst="rect">
            <a:avLst/>
          </a:prstGeom>
        </p:spPr>
      </p:pic>
      <p:sp>
        <p:nvSpPr>
          <p:cNvPr name="TextBox 15" id="15"/>
          <p:cNvSpPr txBox="true"/>
          <p:nvPr/>
        </p:nvSpPr>
        <p:spPr>
          <a:xfrm rot="0">
            <a:off x="2509307" y="981449"/>
            <a:ext cx="13715048" cy="2348598"/>
          </a:xfrm>
          <a:prstGeom prst="rect">
            <a:avLst/>
          </a:prstGeom>
        </p:spPr>
        <p:txBody>
          <a:bodyPr anchor="t" rtlCol="false" tIns="0" lIns="0" bIns="0" rIns="0">
            <a:spAutoFit/>
          </a:bodyPr>
          <a:lstStyle/>
          <a:p>
            <a:pPr algn="ctr">
              <a:lnSpc>
                <a:spcPts val="18599"/>
              </a:lnSpc>
              <a:spcBef>
                <a:spcPct val="0"/>
              </a:spcBef>
            </a:pPr>
            <a:r>
              <a:rPr lang="en-US" sz="13285">
                <a:solidFill>
                  <a:srgbClr val="000000"/>
                </a:solidFill>
                <a:latin typeface="Adlery Blockletter"/>
                <a:ea typeface="Adlery Blockletter"/>
                <a:cs typeface="Adlery Blockletter"/>
                <a:sym typeface="Adlery Blockletter"/>
              </a:rPr>
              <a:t>Mathematical Foundation</a:t>
            </a:r>
          </a:p>
        </p:txBody>
      </p:sp>
      <p:sp>
        <p:nvSpPr>
          <p:cNvPr name="TextBox 16" id="16"/>
          <p:cNvSpPr txBox="true"/>
          <p:nvPr/>
        </p:nvSpPr>
        <p:spPr>
          <a:xfrm rot="0">
            <a:off x="1571897" y="4032503"/>
            <a:ext cx="15443483" cy="2527935"/>
          </a:xfrm>
          <a:prstGeom prst="rect">
            <a:avLst/>
          </a:prstGeom>
        </p:spPr>
        <p:txBody>
          <a:bodyPr anchor="t" rtlCol="false" tIns="0" lIns="0" bIns="0" rIns="0">
            <a:spAutoFit/>
          </a:bodyPr>
          <a:lstStyle/>
          <a:p>
            <a:pPr algn="ctr">
              <a:lnSpc>
                <a:spcPts val="5040"/>
              </a:lnSpc>
              <a:spcBef>
                <a:spcPct val="0"/>
              </a:spcBef>
            </a:pPr>
            <a:r>
              <a:rPr lang="en-US" b="true" sz="3600">
                <a:solidFill>
                  <a:srgbClr val="000000"/>
                </a:solidFill>
                <a:latin typeface="Anek Bangla Bold"/>
                <a:ea typeface="Anek Bangla Bold"/>
                <a:cs typeface="Anek Bangla Bold"/>
                <a:sym typeface="Anek Bangla Bold"/>
              </a:rPr>
              <a:t>Dijkstra’s Algorithm is based on the principle of optimal substructure, which states that every sub-path of a shortest path is itself a shortest path. The algorithm also relies on the relaxation process to continuously improve distance estimates until the optimal shortest distances are finalized.</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761" y="-1578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466602" y="96470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4" id="4"/>
          <p:cNvPicPr>
            <a:picLocks noChangeAspect="true"/>
          </p:cNvPicPr>
          <p:nvPr/>
        </p:nvPicPr>
        <p:blipFill>
          <a:blip r:embed="rId5"/>
          <a:srcRect l="0" t="0" r="0" b="0"/>
          <a:stretch>
            <a:fillRect/>
          </a:stretch>
        </p:blipFill>
        <p:spPr>
          <a:xfrm flipH="true" flipV="false" rot="0">
            <a:off x="7182535" y="8434485"/>
            <a:ext cx="3922929" cy="1647630"/>
          </a:xfrm>
          <a:prstGeom prst="rect">
            <a:avLst/>
          </a:prstGeom>
        </p:spPr>
      </p:pic>
      <p:sp>
        <p:nvSpPr>
          <p:cNvPr name="TextBox 5" id="5"/>
          <p:cNvSpPr txBox="true"/>
          <p:nvPr/>
        </p:nvSpPr>
        <p:spPr>
          <a:xfrm rot="0">
            <a:off x="1028700" y="2615565"/>
            <a:ext cx="7100172" cy="3166110"/>
          </a:xfrm>
          <a:prstGeom prst="rect">
            <a:avLst/>
          </a:prstGeom>
        </p:spPr>
        <p:txBody>
          <a:bodyPr anchor="t" rtlCol="false" tIns="0" lIns="0" bIns="0" rIns="0">
            <a:spAutoFit/>
          </a:bodyPr>
          <a:lstStyle/>
          <a:p>
            <a:pPr algn="ctr">
              <a:lnSpc>
                <a:spcPts val="5040"/>
              </a:lnSpc>
              <a:spcBef>
                <a:spcPct val="0"/>
              </a:spcBef>
            </a:pPr>
            <a:r>
              <a:rPr lang="en-US" b="true" sz="3600">
                <a:solidFill>
                  <a:srgbClr val="000000"/>
                </a:solidFill>
                <a:latin typeface="Anek Bangla Bold"/>
                <a:ea typeface="Anek Bangla Bold"/>
                <a:cs typeface="Anek Bangla Bold"/>
                <a:sym typeface="Anek Bangla Bold"/>
              </a:rPr>
              <a:t>Core Mathematical Concepts</a:t>
            </a:r>
          </a:p>
          <a:p>
            <a:pPr algn="l" marL="777240" indent="-388620" lvl="1">
              <a:lnSpc>
                <a:spcPts val="5040"/>
              </a:lnSpc>
              <a:buFont typeface="Arial"/>
              <a:buChar char="•"/>
            </a:pPr>
            <a:r>
              <a:rPr lang="en-US" b="true" sz="3600">
                <a:solidFill>
                  <a:srgbClr val="000000"/>
                </a:solidFill>
                <a:latin typeface="Anek Bangla Bold"/>
                <a:ea typeface="Anek Bangla Bold"/>
                <a:cs typeface="Anek Bangla Bold"/>
                <a:sym typeface="Anek Bangla Bold"/>
              </a:rPr>
              <a:t>Optimal substructure</a:t>
            </a:r>
          </a:p>
          <a:p>
            <a:pPr algn="l" marL="777240" indent="-388620" lvl="1">
              <a:lnSpc>
                <a:spcPts val="5040"/>
              </a:lnSpc>
              <a:buFont typeface="Arial"/>
              <a:buChar char="•"/>
            </a:pPr>
            <a:r>
              <a:rPr lang="en-US" b="true" sz="3600">
                <a:solidFill>
                  <a:srgbClr val="000000"/>
                </a:solidFill>
                <a:latin typeface="Anek Bangla Bold"/>
                <a:ea typeface="Anek Bangla Bold"/>
                <a:cs typeface="Anek Bangla Bold"/>
                <a:sym typeface="Anek Bangla Bold"/>
              </a:rPr>
              <a:t>Relaxation invariant</a:t>
            </a:r>
          </a:p>
          <a:p>
            <a:pPr algn="l" marL="777240" indent="-388620" lvl="1">
              <a:lnSpc>
                <a:spcPts val="5040"/>
              </a:lnSpc>
              <a:buFont typeface="Arial"/>
              <a:buChar char="•"/>
            </a:pPr>
            <a:r>
              <a:rPr lang="en-US" b="true" sz="3600">
                <a:solidFill>
                  <a:srgbClr val="000000"/>
                </a:solidFill>
                <a:latin typeface="Anek Bangla Bold"/>
                <a:ea typeface="Anek Bangla Bold"/>
                <a:cs typeface="Anek Bangla Bold"/>
                <a:sym typeface="Anek Bangla Bold"/>
              </a:rPr>
              <a:t>Priority queue ordering</a:t>
            </a:r>
          </a:p>
          <a:p>
            <a:pPr algn="l" marL="777240" indent="-388620" lvl="1">
              <a:lnSpc>
                <a:spcPts val="5040"/>
              </a:lnSpc>
              <a:buFont typeface="Arial"/>
              <a:buChar char="•"/>
            </a:pPr>
            <a:r>
              <a:rPr lang="en-US" b="true" sz="3600">
                <a:solidFill>
                  <a:srgbClr val="000000"/>
                </a:solidFill>
                <a:latin typeface="Anek Bangla Bold"/>
                <a:ea typeface="Anek Bangla Bold"/>
                <a:cs typeface="Anek Bangla Bold"/>
                <a:sym typeface="Anek Bangla Bold"/>
              </a:rPr>
              <a:t>Greedy selection strategy</a:t>
            </a:r>
          </a:p>
        </p:txBody>
      </p:sp>
      <p:sp>
        <p:nvSpPr>
          <p:cNvPr name="TextBox 6" id="6"/>
          <p:cNvSpPr txBox="true"/>
          <p:nvPr/>
        </p:nvSpPr>
        <p:spPr>
          <a:xfrm rot="0">
            <a:off x="10943525" y="2934653"/>
            <a:ext cx="6315775" cy="2527935"/>
          </a:xfrm>
          <a:prstGeom prst="rect">
            <a:avLst/>
          </a:prstGeom>
        </p:spPr>
        <p:txBody>
          <a:bodyPr anchor="t" rtlCol="false" tIns="0" lIns="0" bIns="0" rIns="0">
            <a:spAutoFit/>
          </a:bodyPr>
          <a:lstStyle/>
          <a:p>
            <a:pPr algn="ctr">
              <a:lnSpc>
                <a:spcPts val="5040"/>
              </a:lnSpc>
              <a:spcBef>
                <a:spcPct val="0"/>
              </a:spcBef>
            </a:pPr>
            <a:r>
              <a:rPr lang="en-US" b="true" sz="3600">
                <a:solidFill>
                  <a:srgbClr val="000000"/>
                </a:solidFill>
                <a:latin typeface="Anek Bangla Bold"/>
                <a:ea typeface="Anek Bangla Bold"/>
                <a:cs typeface="Anek Bangla Bold"/>
                <a:sym typeface="Anek Bangla Bold"/>
              </a:rPr>
              <a:t>d[v]&gt;d[u]+w(u,v)</a:t>
            </a:r>
          </a:p>
          <a:p>
            <a:pPr algn="ctr">
              <a:lnSpc>
                <a:spcPts val="5040"/>
              </a:lnSpc>
              <a:spcBef>
                <a:spcPct val="0"/>
              </a:spcBef>
            </a:pPr>
            <a:r>
              <a:rPr lang="en-US" b="true" sz="3600">
                <a:solidFill>
                  <a:srgbClr val="000000"/>
                </a:solidFill>
                <a:latin typeface="Anek Bangla Bold"/>
                <a:ea typeface="Anek Bangla Bold"/>
                <a:cs typeface="Anek Bangla Bold"/>
                <a:sym typeface="Anek Bangla Bold"/>
              </a:rPr>
              <a:t>If a shorter path through node u is found, the distance of node v is updated.</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761" y="-1578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466602" y="96470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4" id="4"/>
          <p:cNvPicPr>
            <a:picLocks noChangeAspect="true"/>
          </p:cNvPicPr>
          <p:nvPr/>
        </p:nvPicPr>
        <p:blipFill>
          <a:blip r:embed="rId5"/>
          <a:srcRect l="0" t="0" r="0" b="0"/>
          <a:stretch>
            <a:fillRect/>
          </a:stretch>
        </p:blipFill>
        <p:spPr>
          <a:xfrm flipH="true" flipV="false" rot="0">
            <a:off x="13716316" y="8316387"/>
            <a:ext cx="4255374" cy="1883826"/>
          </a:xfrm>
          <a:prstGeom prst="rect">
            <a:avLst/>
          </a:prstGeom>
        </p:spPr>
      </p:pic>
      <p:pic>
        <p:nvPicPr>
          <p:cNvPr name="Picture 5" id="5"/>
          <p:cNvPicPr>
            <a:picLocks noChangeAspect="true"/>
          </p:cNvPicPr>
          <p:nvPr/>
        </p:nvPicPr>
        <p:blipFill>
          <a:blip r:embed="rId6"/>
          <a:srcRect l="0" t="0" r="0" b="0"/>
          <a:stretch>
            <a:fillRect/>
          </a:stretch>
        </p:blipFill>
        <p:spPr>
          <a:xfrm flipH="true" flipV="false" rot="0">
            <a:off x="715248" y="515779"/>
            <a:ext cx="2903046" cy="2133739"/>
          </a:xfrm>
          <a:prstGeom prst="rect">
            <a:avLst/>
          </a:prstGeom>
        </p:spPr>
      </p:pic>
      <p:sp>
        <p:nvSpPr>
          <p:cNvPr name="TextBox 6" id="6"/>
          <p:cNvSpPr txBox="true"/>
          <p:nvPr/>
        </p:nvSpPr>
        <p:spPr>
          <a:xfrm rot="0">
            <a:off x="4224045" y="695325"/>
            <a:ext cx="10285571" cy="2348598"/>
          </a:xfrm>
          <a:prstGeom prst="rect">
            <a:avLst/>
          </a:prstGeom>
        </p:spPr>
        <p:txBody>
          <a:bodyPr anchor="t" rtlCol="false" tIns="0" lIns="0" bIns="0" rIns="0">
            <a:spAutoFit/>
          </a:bodyPr>
          <a:lstStyle/>
          <a:p>
            <a:pPr algn="ctr">
              <a:lnSpc>
                <a:spcPts val="18599"/>
              </a:lnSpc>
              <a:spcBef>
                <a:spcPct val="0"/>
              </a:spcBef>
            </a:pPr>
            <a:r>
              <a:rPr lang="en-US" sz="13285">
                <a:solidFill>
                  <a:srgbClr val="000000"/>
                </a:solidFill>
                <a:latin typeface="Adlery Blockletter"/>
                <a:ea typeface="Adlery Blockletter"/>
                <a:cs typeface="Adlery Blockletter"/>
                <a:sym typeface="Adlery Blockletter"/>
              </a:rPr>
              <a:t>Relaxation Process</a:t>
            </a:r>
          </a:p>
        </p:txBody>
      </p:sp>
      <p:sp>
        <p:nvSpPr>
          <p:cNvPr name="TextBox 7" id="7"/>
          <p:cNvSpPr txBox="true"/>
          <p:nvPr/>
        </p:nvSpPr>
        <p:spPr>
          <a:xfrm rot="0">
            <a:off x="4819809" y="2977248"/>
            <a:ext cx="8648383" cy="3804285"/>
          </a:xfrm>
          <a:prstGeom prst="rect">
            <a:avLst/>
          </a:prstGeom>
        </p:spPr>
        <p:txBody>
          <a:bodyPr anchor="t" rtlCol="false" tIns="0" lIns="0" bIns="0" rIns="0">
            <a:spAutoFit/>
          </a:bodyPr>
          <a:lstStyle/>
          <a:p>
            <a:pPr algn="l">
              <a:lnSpc>
                <a:spcPts val="5040"/>
              </a:lnSpc>
            </a:pPr>
            <a:r>
              <a:rPr lang="en-US" sz="3600" b="true">
                <a:solidFill>
                  <a:srgbClr val="000000"/>
                </a:solidFill>
                <a:latin typeface="Anek Bangla Bold"/>
                <a:ea typeface="Anek Bangla Bold"/>
                <a:cs typeface="Anek Bangla Bold"/>
                <a:sym typeface="Anek Bangla Bold"/>
              </a:rPr>
              <a:t>Steps:</a:t>
            </a:r>
          </a:p>
          <a:p>
            <a:pPr algn="l" marL="777240" indent="-388620" lvl="1">
              <a:lnSpc>
                <a:spcPts val="5040"/>
              </a:lnSpc>
              <a:buFont typeface="Arial"/>
              <a:buChar char="•"/>
            </a:pPr>
            <a:r>
              <a:rPr lang="en-US" b="true" sz="3600">
                <a:solidFill>
                  <a:srgbClr val="000000"/>
                </a:solidFill>
                <a:latin typeface="Anek Bangla Bold"/>
                <a:ea typeface="Anek Bangla Bold"/>
                <a:cs typeface="Anek Bangla Bold"/>
                <a:sym typeface="Anek Bangla Bold"/>
              </a:rPr>
              <a:t>Select the node with minimum distance</a:t>
            </a:r>
          </a:p>
          <a:p>
            <a:pPr algn="l" marL="777240" indent="-388620" lvl="1">
              <a:lnSpc>
                <a:spcPts val="5040"/>
              </a:lnSpc>
              <a:buFont typeface="Arial"/>
              <a:buChar char="•"/>
            </a:pPr>
            <a:r>
              <a:rPr lang="en-US" b="true" sz="3600">
                <a:solidFill>
                  <a:srgbClr val="000000"/>
                </a:solidFill>
                <a:latin typeface="Anek Bangla Bold"/>
                <a:ea typeface="Anek Bangla Bold"/>
                <a:cs typeface="Anek Bangla Bold"/>
                <a:sym typeface="Anek Bangla Bold"/>
              </a:rPr>
              <a:t>Visit all neighboring nodes</a:t>
            </a:r>
          </a:p>
          <a:p>
            <a:pPr algn="l" marL="777240" indent="-388620" lvl="1">
              <a:lnSpc>
                <a:spcPts val="5040"/>
              </a:lnSpc>
              <a:buFont typeface="Arial"/>
              <a:buChar char="•"/>
            </a:pPr>
            <a:r>
              <a:rPr lang="en-US" b="true" sz="3600">
                <a:solidFill>
                  <a:srgbClr val="000000"/>
                </a:solidFill>
                <a:latin typeface="Anek Bangla Bold"/>
                <a:ea typeface="Anek Bangla Bold"/>
                <a:cs typeface="Anek Bangla Bold"/>
                <a:sym typeface="Anek Bangla Bold"/>
              </a:rPr>
              <a:t>Calculate new possible distances</a:t>
            </a:r>
          </a:p>
          <a:p>
            <a:pPr algn="l" marL="777240" indent="-388620" lvl="1">
              <a:lnSpc>
                <a:spcPts val="5040"/>
              </a:lnSpc>
              <a:buFont typeface="Arial"/>
              <a:buChar char="•"/>
            </a:pPr>
            <a:r>
              <a:rPr lang="en-US" b="true" sz="3600">
                <a:solidFill>
                  <a:srgbClr val="000000"/>
                </a:solidFill>
                <a:latin typeface="Anek Bangla Bold"/>
                <a:ea typeface="Anek Bangla Bold"/>
                <a:cs typeface="Anek Bangla Bold"/>
                <a:sym typeface="Anek Bangla Bold"/>
              </a:rPr>
              <a:t>Update shorter distances</a:t>
            </a:r>
          </a:p>
          <a:p>
            <a:pPr algn="l" marL="777240" indent="-388620" lvl="1">
              <a:lnSpc>
                <a:spcPts val="5040"/>
              </a:lnSpc>
              <a:buFont typeface="Arial"/>
              <a:buChar char="•"/>
            </a:pPr>
            <a:r>
              <a:rPr lang="en-US" b="true" sz="3600">
                <a:solidFill>
                  <a:srgbClr val="000000"/>
                </a:solidFill>
                <a:latin typeface="Anek Bangla Bold"/>
                <a:ea typeface="Anek Bangla Bold"/>
                <a:cs typeface="Anek Bangla Bold"/>
                <a:sym typeface="Anek Bangla Bold"/>
              </a:rPr>
              <a:t>Repeat until all nodes are processed</a:t>
            </a:r>
          </a:p>
        </p:txBody>
      </p:sp>
      <p:sp>
        <p:nvSpPr>
          <p:cNvPr name="TextBox 8" id="8"/>
          <p:cNvSpPr txBox="true"/>
          <p:nvPr/>
        </p:nvSpPr>
        <p:spPr>
          <a:xfrm rot="0">
            <a:off x="7634622" y="6975764"/>
            <a:ext cx="3318034" cy="613410"/>
          </a:xfrm>
          <a:prstGeom prst="rect">
            <a:avLst/>
          </a:prstGeom>
        </p:spPr>
        <p:txBody>
          <a:bodyPr anchor="t" rtlCol="false" tIns="0" lIns="0" bIns="0" rIns="0">
            <a:spAutoFit/>
          </a:bodyPr>
          <a:lstStyle/>
          <a:p>
            <a:pPr algn="ctr">
              <a:lnSpc>
                <a:spcPts val="5040"/>
              </a:lnSpc>
              <a:spcBef>
                <a:spcPct val="0"/>
              </a:spcBef>
            </a:pPr>
            <a:r>
              <a:rPr lang="en-US" b="true" sz="3600">
                <a:solidFill>
                  <a:srgbClr val="000000"/>
                </a:solidFill>
                <a:latin typeface="Anek Bangla Bold"/>
                <a:ea typeface="Anek Bangla Bold"/>
                <a:cs typeface="Anek Bangla Bold"/>
                <a:sym typeface="Anek Bangla Bold"/>
              </a:rPr>
              <a:t>d[v]=d[u]+w(u,v)</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761" y="-1578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466602" y="96470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4" id="4"/>
          <p:cNvPicPr>
            <a:picLocks noChangeAspect="true"/>
          </p:cNvPicPr>
          <p:nvPr/>
        </p:nvPicPr>
        <p:blipFill>
          <a:blip r:embed="rId5"/>
          <a:srcRect l="0" t="0" r="0" b="0"/>
          <a:stretch>
            <a:fillRect/>
          </a:stretch>
        </p:blipFill>
        <p:spPr>
          <a:xfrm flipH="true" flipV="false" rot="0">
            <a:off x="13716316" y="8316387"/>
            <a:ext cx="4255374" cy="1883826"/>
          </a:xfrm>
          <a:prstGeom prst="rect">
            <a:avLst/>
          </a:prstGeom>
        </p:spPr>
      </p:pic>
      <p:sp>
        <p:nvSpPr>
          <p:cNvPr name="Freeform 5" id="5"/>
          <p:cNvSpPr/>
          <p:nvPr/>
        </p:nvSpPr>
        <p:spPr>
          <a:xfrm flipH="false" flipV="false" rot="0">
            <a:off x="6227133" y="3384423"/>
            <a:ext cx="6133012" cy="4931964"/>
          </a:xfrm>
          <a:custGeom>
            <a:avLst/>
            <a:gdLst/>
            <a:ahLst/>
            <a:cxnLst/>
            <a:rect r="r" b="b" t="t" l="l"/>
            <a:pathLst>
              <a:path h="4931964" w="6133012">
                <a:moveTo>
                  <a:pt x="0" y="0"/>
                </a:moveTo>
                <a:lnTo>
                  <a:pt x="6133012" y="0"/>
                </a:lnTo>
                <a:lnTo>
                  <a:pt x="6133012" y="4931964"/>
                </a:lnTo>
                <a:lnTo>
                  <a:pt x="0" y="4931964"/>
                </a:lnTo>
                <a:lnTo>
                  <a:pt x="0" y="0"/>
                </a:lnTo>
                <a:close/>
              </a:path>
            </a:pathLst>
          </a:custGeom>
          <a:blipFill>
            <a:blip r:embed="rId6"/>
            <a:stretch>
              <a:fillRect l="0" t="0" r="0" b="0"/>
            </a:stretch>
          </a:blipFill>
        </p:spPr>
      </p:sp>
      <p:sp>
        <p:nvSpPr>
          <p:cNvPr name="TextBox 6" id="6"/>
          <p:cNvSpPr txBox="true"/>
          <p:nvPr/>
        </p:nvSpPr>
        <p:spPr>
          <a:xfrm rot="0">
            <a:off x="3059985" y="1035825"/>
            <a:ext cx="12168029" cy="2348598"/>
          </a:xfrm>
          <a:prstGeom prst="rect">
            <a:avLst/>
          </a:prstGeom>
        </p:spPr>
        <p:txBody>
          <a:bodyPr anchor="t" rtlCol="false" tIns="0" lIns="0" bIns="0" rIns="0">
            <a:spAutoFit/>
          </a:bodyPr>
          <a:lstStyle/>
          <a:p>
            <a:pPr algn="ctr">
              <a:lnSpc>
                <a:spcPts val="18599"/>
              </a:lnSpc>
              <a:spcBef>
                <a:spcPct val="0"/>
              </a:spcBef>
            </a:pPr>
            <a:r>
              <a:rPr lang="en-US" sz="13285">
                <a:solidFill>
                  <a:srgbClr val="000000"/>
                </a:solidFill>
                <a:latin typeface="Adlery Blockletter"/>
                <a:ea typeface="Adlery Blockletter"/>
                <a:cs typeface="Adlery Blockletter"/>
                <a:sym typeface="Adlery Blockletter"/>
              </a:rPr>
              <a:t>Algorithm Pseudocode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761" y="-1578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466602" y="96470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4" id="4"/>
          <p:cNvPicPr>
            <a:picLocks noChangeAspect="true"/>
          </p:cNvPicPr>
          <p:nvPr/>
        </p:nvPicPr>
        <p:blipFill>
          <a:blip r:embed="rId5"/>
          <a:srcRect l="0" t="0" r="0" b="0"/>
          <a:stretch>
            <a:fillRect/>
          </a:stretch>
        </p:blipFill>
        <p:spPr>
          <a:xfrm flipH="false" flipV="false" rot="0">
            <a:off x="13985144" y="7930451"/>
            <a:ext cx="3482678" cy="2089607"/>
          </a:xfrm>
          <a:prstGeom prst="rect">
            <a:avLst/>
          </a:prstGeom>
        </p:spPr>
      </p:pic>
      <p:graphicFrame>
        <p:nvGraphicFramePr>
          <p:cNvPr name="Object 5" id="5"/>
          <p:cNvGraphicFramePr/>
          <p:nvPr/>
        </p:nvGraphicFramePr>
        <p:xfrm>
          <a:off x="1634042" y="2460999"/>
          <a:ext cx="3771900" cy="3771900"/>
        </p:xfrm>
        <a:graphic>
          <a:graphicData uri="http://schemas.openxmlformats.org/presentationml/2006/ole">
            <p:oleObj imgW="4521200" imgH="45212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6" id="6"/>
          <p:cNvSpPr txBox="true"/>
          <p:nvPr/>
        </p:nvSpPr>
        <p:spPr>
          <a:xfrm rot="0">
            <a:off x="1028700" y="1095375"/>
            <a:ext cx="16230600" cy="939165"/>
          </a:xfrm>
          <a:prstGeom prst="rect">
            <a:avLst/>
          </a:prstGeom>
        </p:spPr>
        <p:txBody>
          <a:bodyPr anchor="t" rtlCol="false" tIns="0" lIns="0" bIns="0" rIns="0">
            <a:spAutoFit/>
          </a:bodyPr>
          <a:lstStyle/>
          <a:p>
            <a:pPr algn="ctr">
              <a:lnSpc>
                <a:spcPts val="3600"/>
              </a:lnSpc>
              <a:spcBef>
                <a:spcPct val="0"/>
              </a:spcBef>
            </a:pPr>
            <a:r>
              <a:rPr lang="en-US" b="true" sz="3600">
                <a:solidFill>
                  <a:srgbClr val="000000"/>
                </a:solidFill>
                <a:latin typeface="Anek Bangla Semi-Bold"/>
                <a:ea typeface="Anek Bangla Semi-Bold"/>
                <a:cs typeface="Anek Bangla Semi-Bold"/>
                <a:sym typeface="Anek Bangla Semi-Bold"/>
              </a:rPr>
              <a:t>The following example demonstrates how Dijkstra’s Algorithm computes shortest paths from source node A to all other nodes in the transportation network.</a:t>
            </a:r>
          </a:p>
        </p:txBody>
      </p:sp>
      <p:sp>
        <p:nvSpPr>
          <p:cNvPr name="TextBox 7" id="7"/>
          <p:cNvSpPr txBox="true"/>
          <p:nvPr/>
        </p:nvSpPr>
        <p:spPr>
          <a:xfrm rot="0">
            <a:off x="10030374" y="3289184"/>
            <a:ext cx="6777831" cy="2310765"/>
          </a:xfrm>
          <a:prstGeom prst="rect">
            <a:avLst/>
          </a:prstGeom>
        </p:spPr>
        <p:txBody>
          <a:bodyPr anchor="t" rtlCol="false" tIns="0" lIns="0" bIns="0" rIns="0">
            <a:spAutoFit/>
          </a:bodyPr>
          <a:lstStyle/>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Start from node A</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Update neighboring distances</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Select minimum distance node</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Continue relaxation process</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Final shortest paths obtained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4" id="4"/>
          <p:cNvPicPr>
            <a:picLocks noChangeAspect="true"/>
          </p:cNvPicPr>
          <p:nvPr/>
        </p:nvPicPr>
        <p:blipFill>
          <a:blip r:embed="rId5"/>
          <a:srcRect l="0" t="0" r="0" b="0"/>
          <a:stretch>
            <a:fillRect/>
          </a:stretch>
        </p:blipFill>
        <p:spPr>
          <a:xfrm flipH="true" flipV="false" rot="0">
            <a:off x="7232303" y="8589599"/>
            <a:ext cx="3823395" cy="1337401"/>
          </a:xfrm>
          <a:prstGeom prst="rect">
            <a:avLst/>
          </a:prstGeom>
        </p:spPr>
      </p:pic>
      <p:sp>
        <p:nvSpPr>
          <p:cNvPr name="TextBox 5" id="5"/>
          <p:cNvSpPr txBox="true"/>
          <p:nvPr/>
        </p:nvSpPr>
        <p:spPr>
          <a:xfrm rot="0">
            <a:off x="3039553" y="1200150"/>
            <a:ext cx="11617484" cy="1852294"/>
          </a:xfrm>
          <a:prstGeom prst="rect">
            <a:avLst/>
          </a:prstGeom>
        </p:spPr>
        <p:txBody>
          <a:bodyPr anchor="t" rtlCol="false" tIns="0" lIns="0" bIns="0" rIns="0">
            <a:spAutoFit/>
          </a:bodyPr>
          <a:lstStyle/>
          <a:p>
            <a:pPr algn="ctr">
              <a:lnSpc>
                <a:spcPts val="13299"/>
              </a:lnSpc>
              <a:spcBef>
                <a:spcPct val="0"/>
              </a:spcBef>
            </a:pPr>
            <a:r>
              <a:rPr lang="en-US" sz="13299">
                <a:solidFill>
                  <a:srgbClr val="000000"/>
                </a:solidFill>
                <a:latin typeface="Adlery Blockletter"/>
                <a:ea typeface="Adlery Blockletter"/>
                <a:cs typeface="Adlery Blockletter"/>
                <a:sym typeface="Adlery Blockletter"/>
              </a:rPr>
              <a:t>Proof of Correctness</a:t>
            </a:r>
          </a:p>
        </p:txBody>
      </p:sp>
      <p:sp>
        <p:nvSpPr>
          <p:cNvPr name="TextBox 6" id="6"/>
          <p:cNvSpPr txBox="true"/>
          <p:nvPr/>
        </p:nvSpPr>
        <p:spPr>
          <a:xfrm rot="0">
            <a:off x="1165858" y="3335655"/>
            <a:ext cx="8048573" cy="3225165"/>
          </a:xfrm>
          <a:prstGeom prst="rect">
            <a:avLst/>
          </a:prstGeom>
        </p:spPr>
        <p:txBody>
          <a:bodyPr anchor="t" rtlCol="false" tIns="0" lIns="0" bIns="0" rIns="0">
            <a:spAutoFit/>
          </a:bodyPr>
          <a:lstStyle/>
          <a:p>
            <a:pPr algn="ctr">
              <a:lnSpc>
                <a:spcPts val="3600"/>
              </a:lnSpc>
              <a:spcBef>
                <a:spcPct val="0"/>
              </a:spcBef>
            </a:pPr>
            <a:r>
              <a:rPr lang="en-US" b="true" sz="3600">
                <a:solidFill>
                  <a:srgbClr val="000000"/>
                </a:solidFill>
                <a:latin typeface="Anek Bangla Semi-Bold"/>
                <a:ea typeface="Anek Bangla Semi-Bold"/>
                <a:cs typeface="Anek Bangla Semi-Bold"/>
                <a:sym typeface="Anek Bangla Semi-Bold"/>
              </a:rPr>
              <a:t>Dijkstra’s Algorithm guarantees the optimal shortest path because once a node is extracted from the priority queue, its shortest distance becomes finalized. Since all edge weights are non-negative, no shorter alternative path can appear later during execution.</a:t>
            </a:r>
          </a:p>
        </p:txBody>
      </p:sp>
      <p:sp>
        <p:nvSpPr>
          <p:cNvPr name="TextBox 7" id="7"/>
          <p:cNvSpPr txBox="true"/>
          <p:nvPr/>
        </p:nvSpPr>
        <p:spPr>
          <a:xfrm rot="0">
            <a:off x="10117635" y="3564255"/>
            <a:ext cx="8411005" cy="2767965"/>
          </a:xfrm>
          <a:prstGeom prst="rect">
            <a:avLst/>
          </a:prstGeom>
        </p:spPr>
        <p:txBody>
          <a:bodyPr anchor="t" rtlCol="false" tIns="0" lIns="0" bIns="0" rIns="0">
            <a:spAutoFit/>
          </a:bodyPr>
          <a:lstStyle/>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Non-negative edge weights</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Greedy minimum selection</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Relaxation preserves shortest distances</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Priority queue guarantees correct ordering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761" y="-1578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4" id="4"/>
          <p:cNvPicPr>
            <a:picLocks noChangeAspect="true"/>
          </p:cNvPicPr>
          <p:nvPr/>
        </p:nvPicPr>
        <p:blipFill>
          <a:blip r:embed="rId5"/>
          <a:srcRect l="0" t="0" r="0" b="0"/>
          <a:stretch>
            <a:fillRect/>
          </a:stretch>
        </p:blipFill>
        <p:spPr>
          <a:xfrm flipH="true" flipV="false" rot="0">
            <a:off x="1028700" y="8673592"/>
            <a:ext cx="3823395" cy="1337401"/>
          </a:xfrm>
          <a:prstGeom prst="rect">
            <a:avLst/>
          </a:prstGeom>
        </p:spPr>
      </p:pic>
      <p:pic>
        <p:nvPicPr>
          <p:cNvPr name="Picture 5" id="5"/>
          <p:cNvPicPr>
            <a:picLocks noChangeAspect="true"/>
          </p:cNvPicPr>
          <p:nvPr/>
        </p:nvPicPr>
        <p:blipFill>
          <a:blip r:embed="rId6"/>
          <a:srcRect l="0" t="0" r="0" b="0"/>
          <a:stretch>
            <a:fillRect/>
          </a:stretch>
        </p:blipFill>
        <p:spPr>
          <a:xfrm flipH="true" flipV="false" rot="0">
            <a:off x="13378732" y="8399349"/>
            <a:ext cx="3880568" cy="1717902"/>
          </a:xfrm>
          <a:prstGeom prst="rect">
            <a:avLst/>
          </a:prstGeom>
        </p:spPr>
      </p:pic>
      <p:graphicFrame>
        <p:nvGraphicFramePr>
          <p:cNvPr name="Object 6" id="6"/>
          <p:cNvGraphicFramePr/>
          <p:nvPr/>
        </p:nvGraphicFramePr>
        <p:xfrm>
          <a:off x="6658269" y="4897206"/>
          <a:ext cx="3771900" cy="2514600"/>
        </p:xfrm>
        <a:graphic>
          <a:graphicData uri="http://schemas.openxmlformats.org/presentationml/2006/ole">
            <p:oleObj imgW="4521200" imgH="32639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7" id="7"/>
          <p:cNvSpPr txBox="true"/>
          <p:nvPr/>
        </p:nvSpPr>
        <p:spPr>
          <a:xfrm rot="0">
            <a:off x="2651125" y="1200150"/>
            <a:ext cx="12985750" cy="1852294"/>
          </a:xfrm>
          <a:prstGeom prst="rect">
            <a:avLst/>
          </a:prstGeom>
        </p:spPr>
        <p:txBody>
          <a:bodyPr anchor="t" rtlCol="false" tIns="0" lIns="0" bIns="0" rIns="0">
            <a:spAutoFit/>
          </a:bodyPr>
          <a:lstStyle/>
          <a:p>
            <a:pPr algn="ctr">
              <a:lnSpc>
                <a:spcPts val="13299"/>
              </a:lnSpc>
              <a:spcBef>
                <a:spcPct val="0"/>
              </a:spcBef>
            </a:pPr>
            <a:r>
              <a:rPr lang="en-US" sz="13299">
                <a:solidFill>
                  <a:srgbClr val="000000"/>
                </a:solidFill>
                <a:latin typeface="Adlery Blockletter"/>
                <a:ea typeface="Adlery Blockletter"/>
                <a:cs typeface="Adlery Blockletter"/>
                <a:sym typeface="Adlery Blockletter"/>
              </a:rPr>
              <a:t>Time Complexity Analysis</a:t>
            </a:r>
          </a:p>
        </p:txBody>
      </p:sp>
      <p:sp>
        <p:nvSpPr>
          <p:cNvPr name="TextBox 8" id="8"/>
          <p:cNvSpPr txBox="true"/>
          <p:nvPr/>
        </p:nvSpPr>
        <p:spPr>
          <a:xfrm rot="0">
            <a:off x="1099131" y="3295756"/>
            <a:ext cx="16230600" cy="1396365"/>
          </a:xfrm>
          <a:prstGeom prst="rect">
            <a:avLst/>
          </a:prstGeom>
        </p:spPr>
        <p:txBody>
          <a:bodyPr anchor="t" rtlCol="false" tIns="0" lIns="0" bIns="0" rIns="0">
            <a:spAutoFit/>
          </a:bodyPr>
          <a:lstStyle/>
          <a:p>
            <a:pPr algn="ctr">
              <a:lnSpc>
                <a:spcPts val="3600"/>
              </a:lnSpc>
              <a:spcBef>
                <a:spcPct val="0"/>
              </a:spcBef>
            </a:pPr>
            <a:r>
              <a:rPr lang="en-US" b="true" sz="3600">
                <a:solidFill>
                  <a:srgbClr val="000000"/>
                </a:solidFill>
                <a:latin typeface="Anek Bangla Semi-Bold"/>
                <a:ea typeface="Anek Bangla Semi-Bold"/>
                <a:cs typeface="Anek Bangla Semi-Bold"/>
                <a:sym typeface="Anek Bangla Semi-Bold"/>
              </a:rPr>
              <a:t>The performance of Dijkstra’s Algorithm depends on the data structure used for the priority queue. Binary heaps significantly improve efficiency for sparse transportation graphs.</a:t>
            </a:r>
          </a:p>
        </p:txBody>
      </p:sp>
      <p:sp>
        <p:nvSpPr>
          <p:cNvPr name="TextBox 9" id="9"/>
          <p:cNvSpPr txBox="true"/>
          <p:nvPr/>
        </p:nvSpPr>
        <p:spPr>
          <a:xfrm rot="0">
            <a:off x="12836166" y="7167966"/>
            <a:ext cx="2482850" cy="481965"/>
          </a:xfrm>
          <a:prstGeom prst="rect">
            <a:avLst/>
          </a:prstGeom>
        </p:spPr>
        <p:txBody>
          <a:bodyPr anchor="t" rtlCol="false" tIns="0" lIns="0" bIns="0" rIns="0">
            <a:spAutoFit/>
          </a:bodyPr>
          <a:lstStyle/>
          <a:p>
            <a:pPr algn="ctr">
              <a:lnSpc>
                <a:spcPts val="3600"/>
              </a:lnSpc>
              <a:spcBef>
                <a:spcPct val="0"/>
              </a:spcBef>
            </a:pPr>
            <a:r>
              <a:rPr lang="en-US" b="true" sz="3600">
                <a:solidFill>
                  <a:srgbClr val="000000"/>
                </a:solidFill>
                <a:latin typeface="Anek Bangla Semi-Bold"/>
                <a:ea typeface="Anek Bangla Semi-Bold"/>
                <a:cs typeface="Anek Bangla Semi-Bold"/>
                <a:sym typeface="Anek Bangla Semi-Bold"/>
              </a:rPr>
              <a:t>O((V+E)logV)</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4" id="4"/>
          <p:cNvPicPr>
            <a:picLocks noChangeAspect="true"/>
          </p:cNvPicPr>
          <p:nvPr/>
        </p:nvPicPr>
        <p:blipFill>
          <a:blip r:embed="rId5"/>
          <a:srcRect l="0" t="0" r="0" b="0"/>
          <a:stretch>
            <a:fillRect/>
          </a:stretch>
        </p:blipFill>
        <p:spPr>
          <a:xfrm flipH="true" flipV="false" rot="0">
            <a:off x="14174901" y="8245898"/>
            <a:ext cx="3084399" cy="1850639"/>
          </a:xfrm>
          <a:prstGeom prst="rect">
            <a:avLst/>
          </a:prstGeom>
        </p:spPr>
      </p:pic>
      <p:sp>
        <p:nvSpPr>
          <p:cNvPr name="TextBox 5" id="5"/>
          <p:cNvSpPr txBox="true"/>
          <p:nvPr/>
        </p:nvSpPr>
        <p:spPr>
          <a:xfrm rot="0">
            <a:off x="5325859" y="923904"/>
            <a:ext cx="8849042" cy="1852294"/>
          </a:xfrm>
          <a:prstGeom prst="rect">
            <a:avLst/>
          </a:prstGeom>
        </p:spPr>
        <p:txBody>
          <a:bodyPr anchor="t" rtlCol="false" tIns="0" lIns="0" bIns="0" rIns="0">
            <a:spAutoFit/>
          </a:bodyPr>
          <a:lstStyle/>
          <a:p>
            <a:pPr algn="ctr">
              <a:lnSpc>
                <a:spcPts val="13299"/>
              </a:lnSpc>
              <a:spcBef>
                <a:spcPct val="0"/>
              </a:spcBef>
            </a:pPr>
            <a:r>
              <a:rPr lang="en-US" sz="13299">
                <a:solidFill>
                  <a:srgbClr val="000000"/>
                </a:solidFill>
                <a:latin typeface="Adlery Blockletter"/>
                <a:ea typeface="Adlery Blockletter"/>
                <a:cs typeface="Adlery Blockletter"/>
                <a:sym typeface="Adlery Blockletter"/>
              </a:rPr>
              <a:t>Space Complexity</a:t>
            </a:r>
          </a:p>
        </p:txBody>
      </p:sp>
      <p:sp>
        <p:nvSpPr>
          <p:cNvPr name="TextBox 6" id="6"/>
          <p:cNvSpPr txBox="true"/>
          <p:nvPr/>
        </p:nvSpPr>
        <p:spPr>
          <a:xfrm rot="0">
            <a:off x="1028700" y="3023235"/>
            <a:ext cx="16230600" cy="1396365"/>
          </a:xfrm>
          <a:prstGeom prst="rect">
            <a:avLst/>
          </a:prstGeom>
        </p:spPr>
        <p:txBody>
          <a:bodyPr anchor="t" rtlCol="false" tIns="0" lIns="0" bIns="0" rIns="0">
            <a:spAutoFit/>
          </a:bodyPr>
          <a:lstStyle/>
          <a:p>
            <a:pPr algn="ctr">
              <a:lnSpc>
                <a:spcPts val="3600"/>
              </a:lnSpc>
              <a:spcBef>
                <a:spcPct val="0"/>
              </a:spcBef>
            </a:pPr>
            <a:r>
              <a:rPr lang="en-US" b="true" sz="3600">
                <a:solidFill>
                  <a:srgbClr val="000000"/>
                </a:solidFill>
                <a:latin typeface="Anek Bangla Semi-Bold"/>
                <a:ea typeface="Anek Bangla Semi-Bold"/>
                <a:cs typeface="Anek Bangla Semi-Bold"/>
                <a:sym typeface="Anek Bangla Semi-Bold"/>
              </a:rPr>
              <a:t>The algorithm stores graph data structures, distance arrays, predecessor arrays, and priority queue information. Therefore, the total space complexity depends on the number of vertices and edges in the transportation network.</a:t>
            </a:r>
          </a:p>
        </p:txBody>
      </p:sp>
      <p:sp>
        <p:nvSpPr>
          <p:cNvPr name="TextBox 7" id="7"/>
          <p:cNvSpPr txBox="true"/>
          <p:nvPr/>
        </p:nvSpPr>
        <p:spPr>
          <a:xfrm rot="0">
            <a:off x="6499163" y="5013400"/>
            <a:ext cx="5284152" cy="2310765"/>
          </a:xfrm>
          <a:prstGeom prst="rect">
            <a:avLst/>
          </a:prstGeom>
        </p:spPr>
        <p:txBody>
          <a:bodyPr anchor="t" rtlCol="false" tIns="0" lIns="0" bIns="0" rIns="0">
            <a:spAutoFit/>
          </a:bodyPr>
          <a:lstStyle/>
          <a:p>
            <a:pPr algn="l">
              <a:lnSpc>
                <a:spcPts val="3600"/>
              </a:lnSpc>
            </a:pPr>
            <a:r>
              <a:rPr lang="en-US" b="true" sz="3600">
                <a:solidFill>
                  <a:srgbClr val="000000"/>
                </a:solidFill>
                <a:latin typeface="Anek Bangla Semi-Bold"/>
                <a:ea typeface="Anek Bangla Semi-Bold"/>
                <a:cs typeface="Anek Bangla Semi-Bold"/>
                <a:sym typeface="Anek Bangla Semi-Bold"/>
              </a:rPr>
              <a:t>Space Usage:</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Distance array</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Priority queue</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Graph adjacency list</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Previous node tracking</a:t>
            </a:r>
          </a:p>
        </p:txBody>
      </p:sp>
      <p:sp>
        <p:nvSpPr>
          <p:cNvPr name="TextBox 8" id="8"/>
          <p:cNvSpPr txBox="true"/>
          <p:nvPr/>
        </p:nvSpPr>
        <p:spPr>
          <a:xfrm rot="0">
            <a:off x="13127490" y="7390840"/>
            <a:ext cx="1323657" cy="481965"/>
          </a:xfrm>
          <a:prstGeom prst="rect">
            <a:avLst/>
          </a:prstGeom>
        </p:spPr>
        <p:txBody>
          <a:bodyPr anchor="t" rtlCol="false" tIns="0" lIns="0" bIns="0" rIns="0">
            <a:spAutoFit/>
          </a:bodyPr>
          <a:lstStyle/>
          <a:p>
            <a:pPr algn="ctr">
              <a:lnSpc>
                <a:spcPts val="3600"/>
              </a:lnSpc>
              <a:spcBef>
                <a:spcPct val="0"/>
              </a:spcBef>
            </a:pPr>
            <a:r>
              <a:rPr lang="en-US" b="true" sz="3600">
                <a:solidFill>
                  <a:srgbClr val="000000"/>
                </a:solidFill>
                <a:latin typeface="Anek Bangla Semi-Bold"/>
                <a:ea typeface="Anek Bangla Semi-Bold"/>
                <a:cs typeface="Anek Bangla Semi-Bold"/>
                <a:sym typeface="Anek Bangla Semi-Bold"/>
              </a:rPr>
              <a:t>O(V+E)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4" id="4"/>
          <p:cNvPicPr>
            <a:picLocks noChangeAspect="true"/>
          </p:cNvPicPr>
          <p:nvPr/>
        </p:nvPicPr>
        <p:blipFill>
          <a:blip r:embed="rId5"/>
          <a:srcRect l="0" t="0" r="0" b="0"/>
          <a:stretch>
            <a:fillRect/>
          </a:stretch>
        </p:blipFill>
        <p:spPr>
          <a:xfrm flipH="true" flipV="false" rot="0">
            <a:off x="13378732" y="8589599"/>
            <a:ext cx="3823395" cy="1337401"/>
          </a:xfrm>
          <a:prstGeom prst="rect">
            <a:avLst/>
          </a:prstGeom>
        </p:spPr>
      </p:pic>
      <p:sp>
        <p:nvSpPr>
          <p:cNvPr name="TextBox 5" id="5"/>
          <p:cNvSpPr txBox="true"/>
          <p:nvPr/>
        </p:nvSpPr>
        <p:spPr>
          <a:xfrm rot="0">
            <a:off x="761046" y="1190625"/>
            <a:ext cx="16906770" cy="1678939"/>
          </a:xfrm>
          <a:prstGeom prst="rect">
            <a:avLst/>
          </a:prstGeom>
        </p:spPr>
        <p:txBody>
          <a:bodyPr anchor="t" rtlCol="false" tIns="0" lIns="0" bIns="0" rIns="0">
            <a:spAutoFit/>
          </a:bodyPr>
          <a:lstStyle/>
          <a:p>
            <a:pPr algn="ctr">
              <a:lnSpc>
                <a:spcPts val="12099"/>
              </a:lnSpc>
              <a:spcBef>
                <a:spcPct val="0"/>
              </a:spcBef>
            </a:pPr>
            <a:r>
              <a:rPr lang="en-US" sz="12099">
                <a:solidFill>
                  <a:srgbClr val="000000"/>
                </a:solidFill>
                <a:latin typeface="Adlery Blockletter"/>
                <a:ea typeface="Adlery Blockletter"/>
                <a:cs typeface="Adlery Blockletter"/>
                <a:sym typeface="Adlery Blockletter"/>
              </a:rPr>
              <a:t>Our Transportation Modifications</a:t>
            </a:r>
          </a:p>
        </p:txBody>
      </p:sp>
      <p:sp>
        <p:nvSpPr>
          <p:cNvPr name="TextBox 6" id="6"/>
          <p:cNvSpPr txBox="true"/>
          <p:nvPr/>
        </p:nvSpPr>
        <p:spPr>
          <a:xfrm rot="0">
            <a:off x="1028700" y="4250055"/>
            <a:ext cx="16230600" cy="1853565"/>
          </a:xfrm>
          <a:prstGeom prst="rect">
            <a:avLst/>
          </a:prstGeom>
        </p:spPr>
        <p:txBody>
          <a:bodyPr anchor="t" rtlCol="false" tIns="0" lIns="0" bIns="0" rIns="0">
            <a:spAutoFit/>
          </a:bodyPr>
          <a:lstStyle/>
          <a:p>
            <a:pPr algn="ctr">
              <a:lnSpc>
                <a:spcPts val="3600"/>
              </a:lnSpc>
              <a:spcBef>
                <a:spcPct val="0"/>
              </a:spcBef>
            </a:pPr>
            <a:r>
              <a:rPr lang="en-US" b="true" sz="3600">
                <a:solidFill>
                  <a:srgbClr val="000000"/>
                </a:solidFill>
                <a:latin typeface="Anek Bangla Semi-Bold"/>
                <a:ea typeface="Anek Bangla Semi-Bold"/>
                <a:cs typeface="Anek Bangla Semi-Bold"/>
                <a:sym typeface="Anek Bangla Semi-Bold"/>
              </a:rPr>
              <a:t>To adapt Dijkstra’s Algorithm for real transportation systems, several modifications were introduced to account for traffic congestion, road closures, and emergency routing requirements. These modifications improve route realism and optimization accuracy.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2626483"/>
            <a:ext cx="7644289" cy="2767965"/>
          </a:xfrm>
          <a:prstGeom prst="rect">
            <a:avLst/>
          </a:prstGeom>
        </p:spPr>
        <p:txBody>
          <a:bodyPr anchor="t" rtlCol="false" tIns="0" lIns="0" bIns="0" rIns="0">
            <a:spAutoFit/>
          </a:bodyPr>
          <a:lstStyle/>
          <a:p>
            <a:pPr algn="l">
              <a:lnSpc>
                <a:spcPts val="3600"/>
              </a:lnSpc>
            </a:pPr>
            <a:r>
              <a:rPr lang="en-US" b="true" sz="3600">
                <a:solidFill>
                  <a:srgbClr val="000000"/>
                </a:solidFill>
                <a:latin typeface="Anek Bangla Semi-Bold"/>
                <a:ea typeface="Anek Bangla Semi-Bold"/>
                <a:cs typeface="Anek Bangla Semi-Bold"/>
                <a:sym typeface="Anek Bangla Semi-Bold"/>
              </a:rPr>
              <a:t>Modifications Added:</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Traffic-based edge weights</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Rush hour congestion penalties</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Emergency vehicle prioritization</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Road closure handling</a:t>
            </a:r>
          </a:p>
          <a:p>
            <a:pPr algn="l" marL="777240" indent="-388620" lvl="1">
              <a:lnSpc>
                <a:spcPts val="3600"/>
              </a:lnSpc>
              <a:buFont typeface="Arial"/>
              <a:buChar char="•"/>
            </a:pPr>
            <a:r>
              <a:rPr lang="en-US" b="true" sz="3600">
                <a:solidFill>
                  <a:srgbClr val="000000"/>
                </a:solidFill>
                <a:latin typeface="Anek Bangla Semi-Bold"/>
                <a:ea typeface="Anek Bangla Semi-Bold"/>
                <a:cs typeface="Anek Bangla Semi-Bold"/>
                <a:sym typeface="Anek Bangla Semi-Bold"/>
              </a:rPr>
              <a:t>Alternative route recommendation</a:t>
            </a:r>
          </a:p>
        </p:txBody>
      </p:sp>
      <p:pic>
        <p:nvPicPr>
          <p:cNvPr name="Picture 5" id="5"/>
          <p:cNvPicPr>
            <a:picLocks noChangeAspect="true"/>
          </p:cNvPicPr>
          <p:nvPr/>
        </p:nvPicPr>
        <p:blipFill>
          <a:blip r:embed="rId5"/>
          <a:srcRect l="0" t="0" r="0" b="0"/>
          <a:stretch>
            <a:fillRect/>
          </a:stretch>
        </p:blipFill>
        <p:spPr>
          <a:xfrm flipH="true" flipV="false" rot="0">
            <a:off x="13378732" y="8589599"/>
            <a:ext cx="3823395" cy="1337401"/>
          </a:xfrm>
          <a:prstGeom prst="rect">
            <a:avLst/>
          </a:prstGeom>
        </p:spPr>
      </p:pic>
      <p:sp>
        <p:nvSpPr>
          <p:cNvPr name="TextBox 6" id="6"/>
          <p:cNvSpPr txBox="true"/>
          <p:nvPr/>
        </p:nvSpPr>
        <p:spPr>
          <a:xfrm rot="0">
            <a:off x="5263674" y="6163615"/>
            <a:ext cx="7760652" cy="481965"/>
          </a:xfrm>
          <a:prstGeom prst="rect">
            <a:avLst/>
          </a:prstGeom>
        </p:spPr>
        <p:txBody>
          <a:bodyPr anchor="t" rtlCol="false" tIns="0" lIns="0" bIns="0" rIns="0">
            <a:spAutoFit/>
          </a:bodyPr>
          <a:lstStyle/>
          <a:p>
            <a:pPr algn="ctr">
              <a:lnSpc>
                <a:spcPts val="3600"/>
              </a:lnSpc>
              <a:spcBef>
                <a:spcPct val="0"/>
              </a:spcBef>
            </a:pPr>
            <a:r>
              <a:rPr lang="en-US" b="true" sz="3600">
                <a:solidFill>
                  <a:srgbClr val="000000"/>
                </a:solidFill>
                <a:latin typeface="Anek Bangla Semi-Bold"/>
                <a:ea typeface="Anek Bangla Semi-Bold"/>
                <a:cs typeface="Anek Bangla Semi-Bold"/>
                <a:sym typeface="Anek Bangla Semi-Bold"/>
              </a:rPr>
              <a:t>Adjusted Cost=Distance+Traffic Penalty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761" y="-1578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466602" y="96470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4" id="4"/>
          <p:cNvPicPr>
            <a:picLocks noChangeAspect="true"/>
          </p:cNvPicPr>
          <p:nvPr/>
        </p:nvPicPr>
        <p:blipFill>
          <a:blip r:embed="rId5"/>
          <a:srcRect l="0" t="0" r="0" b="0"/>
          <a:stretch>
            <a:fillRect/>
          </a:stretch>
        </p:blipFill>
        <p:spPr>
          <a:xfrm flipH="true" flipV="false" rot="0">
            <a:off x="7182535" y="8434485"/>
            <a:ext cx="3922929" cy="1647630"/>
          </a:xfrm>
          <a:prstGeom prst="rect">
            <a:avLst/>
          </a:prstGeom>
        </p:spPr>
      </p:pic>
      <p:sp>
        <p:nvSpPr>
          <p:cNvPr name="TextBox 5" id="5"/>
          <p:cNvSpPr txBox="true"/>
          <p:nvPr/>
        </p:nvSpPr>
        <p:spPr>
          <a:xfrm rot="0">
            <a:off x="586423" y="2261340"/>
            <a:ext cx="16672877" cy="2527935"/>
          </a:xfrm>
          <a:prstGeom prst="rect">
            <a:avLst/>
          </a:prstGeom>
        </p:spPr>
        <p:txBody>
          <a:bodyPr anchor="t" rtlCol="false" tIns="0" lIns="0" bIns="0" rIns="0">
            <a:spAutoFit/>
          </a:bodyPr>
          <a:lstStyle/>
          <a:p>
            <a:pPr algn="just">
              <a:lnSpc>
                <a:spcPts val="5040"/>
              </a:lnSpc>
            </a:pPr>
            <a:r>
              <a:rPr lang="en-US" b="true" sz="3600">
                <a:solidFill>
                  <a:srgbClr val="000000"/>
                </a:solidFill>
                <a:latin typeface="Anek Bangla Bold"/>
                <a:ea typeface="Anek Bangla Bold"/>
                <a:cs typeface="Anek Bangla Bold"/>
                <a:sym typeface="Anek Bangla Bold"/>
              </a:rPr>
              <a:t>Perf</a:t>
            </a:r>
            <a:r>
              <a:rPr lang="en-US" b="true" sz="3600">
                <a:solidFill>
                  <a:srgbClr val="000000"/>
                </a:solidFill>
                <a:latin typeface="Anek Bangla Bold"/>
                <a:ea typeface="Anek Bangla Bold"/>
                <a:cs typeface="Anek Bangla Bold"/>
                <a:sym typeface="Anek Bangla Bold"/>
              </a:rPr>
              <a:t>ormance testing demonstrated that the modified Dijks</a:t>
            </a:r>
            <a:r>
              <a:rPr lang="en-US" b="true" sz="3600">
                <a:solidFill>
                  <a:srgbClr val="000000"/>
                </a:solidFill>
                <a:latin typeface="Anek Bangla Bold"/>
                <a:ea typeface="Anek Bangla Bold"/>
                <a:cs typeface="Anek Bangla Bold"/>
                <a:sym typeface="Anek Bangla Bold"/>
              </a:rPr>
              <a:t>tra implementation successfully reduced travel time and improved routing efficiency under varying traffic conditions.</a:t>
            </a:r>
          </a:p>
          <a:p>
            <a:pPr algn="just">
              <a:lnSpc>
                <a:spcPts val="5040"/>
              </a:lnSpc>
            </a:pPr>
          </a:p>
        </p:txBody>
      </p:sp>
      <p:sp>
        <p:nvSpPr>
          <p:cNvPr name="TextBox 6" id="6"/>
          <p:cNvSpPr txBox="true"/>
          <p:nvPr/>
        </p:nvSpPr>
        <p:spPr>
          <a:xfrm rot="0">
            <a:off x="5398143" y="4253645"/>
            <a:ext cx="7937375" cy="4180840"/>
          </a:xfrm>
          <a:prstGeom prst="rect">
            <a:avLst/>
          </a:prstGeom>
        </p:spPr>
        <p:txBody>
          <a:bodyPr anchor="t" rtlCol="false" tIns="0" lIns="0" bIns="0" rIns="0">
            <a:spAutoFit/>
          </a:bodyPr>
          <a:lstStyle/>
          <a:p>
            <a:pPr algn="l">
              <a:lnSpc>
                <a:spcPts val="4760"/>
              </a:lnSpc>
            </a:pPr>
            <a:r>
              <a:rPr lang="en-US" sz="3400" b="true">
                <a:solidFill>
                  <a:srgbClr val="000000"/>
                </a:solidFill>
                <a:latin typeface="Anek Bangla Bold"/>
                <a:ea typeface="Anek Bangla Bold"/>
                <a:cs typeface="Anek Bangla Bold"/>
                <a:sym typeface="Anek Bangla Bold"/>
              </a:rPr>
              <a:t>Res</a:t>
            </a:r>
            <a:r>
              <a:rPr lang="en-US" b="true" sz="3400">
                <a:solidFill>
                  <a:srgbClr val="000000"/>
                </a:solidFill>
                <a:latin typeface="Anek Bangla Bold"/>
                <a:ea typeface="Anek Bangla Bold"/>
                <a:cs typeface="Anek Bangla Bold"/>
                <a:sym typeface="Anek Bangla Bold"/>
              </a:rPr>
              <a:t>ults:</a:t>
            </a:r>
          </a:p>
          <a:p>
            <a:pPr algn="l" marL="734061" indent="-367031" lvl="1">
              <a:lnSpc>
                <a:spcPts val="4760"/>
              </a:lnSpc>
              <a:buFont typeface="Arial"/>
              <a:buChar char="•"/>
            </a:pPr>
            <a:r>
              <a:rPr lang="en-US" b="true" sz="3400">
                <a:solidFill>
                  <a:srgbClr val="000000"/>
                </a:solidFill>
                <a:latin typeface="Anek Bangla Bold"/>
                <a:ea typeface="Anek Bangla Bold"/>
                <a:cs typeface="Anek Bangla Bold"/>
                <a:sym typeface="Anek Bangla Bold"/>
              </a:rPr>
              <a:t>Faster route generation</a:t>
            </a:r>
          </a:p>
          <a:p>
            <a:pPr algn="l" marL="734061" indent="-367031" lvl="1">
              <a:lnSpc>
                <a:spcPts val="4760"/>
              </a:lnSpc>
              <a:buFont typeface="Arial"/>
              <a:buChar char="•"/>
            </a:pPr>
            <a:r>
              <a:rPr lang="en-US" b="true" sz="3400">
                <a:solidFill>
                  <a:srgbClr val="000000"/>
                </a:solidFill>
                <a:latin typeface="Anek Bangla Bold"/>
                <a:ea typeface="Anek Bangla Bold"/>
                <a:cs typeface="Anek Bangla Bold"/>
                <a:sym typeface="Anek Bangla Bold"/>
              </a:rPr>
              <a:t>Reduced congestion impact</a:t>
            </a:r>
          </a:p>
          <a:p>
            <a:pPr algn="l" marL="734061" indent="-367031" lvl="1">
              <a:lnSpc>
                <a:spcPts val="4760"/>
              </a:lnSpc>
              <a:buFont typeface="Arial"/>
              <a:buChar char="•"/>
            </a:pPr>
            <a:r>
              <a:rPr lang="en-US" b="true" sz="3400">
                <a:solidFill>
                  <a:srgbClr val="000000"/>
                </a:solidFill>
                <a:latin typeface="Anek Bangla Bold"/>
                <a:ea typeface="Anek Bangla Bold"/>
                <a:cs typeface="Anek Bangla Bold"/>
                <a:sym typeface="Anek Bangla Bold"/>
              </a:rPr>
              <a:t>Improved emergency response</a:t>
            </a:r>
          </a:p>
          <a:p>
            <a:pPr algn="l" marL="734061" indent="-367031" lvl="1">
              <a:lnSpc>
                <a:spcPts val="4760"/>
              </a:lnSpc>
              <a:buFont typeface="Arial"/>
              <a:buChar char="•"/>
            </a:pPr>
            <a:r>
              <a:rPr lang="en-US" b="true" sz="3400">
                <a:solidFill>
                  <a:srgbClr val="000000"/>
                </a:solidFill>
                <a:latin typeface="Anek Bangla Bold"/>
                <a:ea typeface="Anek Bangla Bold"/>
                <a:cs typeface="Anek Bangla Bold"/>
                <a:sym typeface="Anek Bangla Bold"/>
              </a:rPr>
              <a:t>Efficient shortest path calculation</a:t>
            </a:r>
          </a:p>
          <a:p>
            <a:pPr algn="l" marL="734061" indent="-367031" lvl="1">
              <a:lnSpc>
                <a:spcPts val="4760"/>
              </a:lnSpc>
              <a:buFont typeface="Arial"/>
              <a:buChar char="•"/>
            </a:pPr>
            <a:r>
              <a:rPr lang="en-US" b="true" sz="3400">
                <a:solidFill>
                  <a:srgbClr val="000000"/>
                </a:solidFill>
                <a:latin typeface="Anek Bangla Bold"/>
                <a:ea typeface="Anek Bangla Bold"/>
                <a:cs typeface="Anek Bangla Bold"/>
                <a:sym typeface="Anek Bangla Bold"/>
              </a:rPr>
              <a:t>Better traffic-aware navigation</a:t>
            </a:r>
          </a:p>
          <a:p>
            <a:pPr algn="l">
              <a:lnSpc>
                <a:spcPts val="4760"/>
              </a:lnSpc>
            </a:pPr>
          </a:p>
        </p:txBody>
      </p:sp>
      <p:sp>
        <p:nvSpPr>
          <p:cNvPr name="TextBox 7" id="7"/>
          <p:cNvSpPr txBox="true"/>
          <p:nvPr/>
        </p:nvSpPr>
        <p:spPr>
          <a:xfrm rot="0">
            <a:off x="2646396" y="821943"/>
            <a:ext cx="12995207" cy="1128979"/>
          </a:xfrm>
          <a:prstGeom prst="rect">
            <a:avLst/>
          </a:prstGeom>
        </p:spPr>
        <p:txBody>
          <a:bodyPr anchor="t" rtlCol="false" tIns="0" lIns="0" bIns="0" rIns="0">
            <a:spAutoFit/>
          </a:bodyPr>
          <a:lstStyle/>
          <a:p>
            <a:pPr algn="ctr">
              <a:lnSpc>
                <a:spcPts val="7429"/>
              </a:lnSpc>
            </a:pPr>
            <a:r>
              <a:rPr lang="en-US" sz="9286">
                <a:solidFill>
                  <a:srgbClr val="000000"/>
                </a:solidFill>
                <a:latin typeface="Adlery Blockletter"/>
                <a:ea typeface="Adlery Blockletter"/>
                <a:cs typeface="Adlery Blockletter"/>
                <a:sym typeface="Adlery Blockletter"/>
              </a:rPr>
              <a:t>Performance Analysis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246161" y="8546833"/>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8546833"/>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8546833"/>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19002" y="9628077"/>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7" id="7"/>
          <p:cNvPicPr>
            <a:picLocks noChangeAspect="true"/>
          </p:cNvPicPr>
          <p:nvPr/>
        </p:nvPicPr>
        <p:blipFill>
          <a:blip r:embed="rId7"/>
          <a:srcRect l="0" t="0" r="0" b="0"/>
          <a:stretch>
            <a:fillRect/>
          </a:stretch>
        </p:blipFill>
        <p:spPr>
          <a:xfrm flipH="true" flipV="false" rot="0">
            <a:off x="13776622" y="8058034"/>
            <a:ext cx="3482678" cy="2089607"/>
          </a:xfrm>
          <a:prstGeom prst="rect">
            <a:avLst/>
          </a:prstGeom>
        </p:spPr>
      </p:pic>
      <p:pic>
        <p:nvPicPr>
          <p:cNvPr name="Picture 8" id="8"/>
          <p:cNvPicPr>
            <a:picLocks noChangeAspect="true"/>
          </p:cNvPicPr>
          <p:nvPr/>
        </p:nvPicPr>
        <p:blipFill>
          <a:blip r:embed="rId8"/>
          <a:srcRect l="0" t="0" r="0" b="0"/>
          <a:stretch>
            <a:fillRect/>
          </a:stretch>
        </p:blipFill>
        <p:spPr>
          <a:xfrm flipH="true" flipV="false" rot="0">
            <a:off x="1028700" y="8160924"/>
            <a:ext cx="4255374" cy="1883826"/>
          </a:xfrm>
          <a:prstGeom prst="rect">
            <a:avLst/>
          </a:prstGeom>
        </p:spPr>
      </p:pic>
      <p:sp>
        <p:nvSpPr>
          <p:cNvPr name="TextBox 9" id="9"/>
          <p:cNvSpPr txBox="true"/>
          <p:nvPr/>
        </p:nvSpPr>
        <p:spPr>
          <a:xfrm rot="0">
            <a:off x="1673401" y="1447800"/>
            <a:ext cx="15082060" cy="1605605"/>
          </a:xfrm>
          <a:prstGeom prst="rect">
            <a:avLst/>
          </a:prstGeom>
        </p:spPr>
        <p:txBody>
          <a:bodyPr anchor="t" rtlCol="false" tIns="0" lIns="0" bIns="0" rIns="0">
            <a:spAutoFit/>
          </a:bodyPr>
          <a:lstStyle/>
          <a:p>
            <a:pPr algn="ctr">
              <a:lnSpc>
                <a:spcPts val="10628"/>
              </a:lnSpc>
            </a:pPr>
            <a:r>
              <a:rPr lang="en-US" sz="13285">
                <a:solidFill>
                  <a:srgbClr val="000000"/>
                </a:solidFill>
                <a:latin typeface="Adlery Blockletter"/>
                <a:ea typeface="Adlery Blockletter"/>
                <a:cs typeface="Adlery Blockletter"/>
                <a:sym typeface="Adlery Blockletter"/>
              </a:rPr>
              <a:t>Why Dijkstra’s Algorithm?</a:t>
            </a:r>
          </a:p>
        </p:txBody>
      </p:sp>
      <p:sp>
        <p:nvSpPr>
          <p:cNvPr name="TextBox 10" id="10"/>
          <p:cNvSpPr txBox="true"/>
          <p:nvPr/>
        </p:nvSpPr>
        <p:spPr>
          <a:xfrm rot="0">
            <a:off x="1522180" y="3920490"/>
            <a:ext cx="15384501" cy="2484120"/>
          </a:xfrm>
          <a:prstGeom prst="rect">
            <a:avLst/>
          </a:prstGeom>
        </p:spPr>
        <p:txBody>
          <a:bodyPr anchor="t" rtlCol="false" tIns="0" lIns="0" bIns="0" rIns="0">
            <a:spAutoFit/>
          </a:bodyPr>
          <a:lstStyle/>
          <a:p>
            <a:pPr algn="just">
              <a:lnSpc>
                <a:spcPts val="3960"/>
              </a:lnSpc>
            </a:pPr>
            <a:r>
              <a:rPr lang="en-US" sz="3600" b="true">
                <a:solidFill>
                  <a:srgbClr val="000000"/>
                </a:solidFill>
                <a:latin typeface="Anek Bangla Semi-Bold"/>
                <a:ea typeface="Anek Bangla Semi-Bold"/>
                <a:cs typeface="Anek Bangla Semi-Bold"/>
                <a:sym typeface="Anek Bangla Semi-Bold"/>
              </a:rPr>
              <a:t>Dijkstra’s Algorithm was selected because it efficiently computes the shortest path in weighted transportation networks with non-negative edge weights. In smart city transportation systems, finding optimal routes quickly is essential for reducing travel time,minimizing congestion, and improving emergency response efficiency.</a:t>
            </a:r>
          </a:p>
        </p:txBody>
      </p:sp>
      <p:sp>
        <p:nvSpPr>
          <p:cNvPr name="Freeform 11" id="11"/>
          <p:cNvSpPr/>
          <p:nvPr/>
        </p:nvSpPr>
        <p:spPr>
          <a:xfrm flipH="false" flipV="false" rot="0">
            <a:off x="-93761" y="-1578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12" id="12"/>
          <p:cNvSpPr/>
          <p:nvPr/>
        </p:nvSpPr>
        <p:spPr>
          <a:xfrm flipH="false" flipV="false" rot="0">
            <a:off x="58639" y="8704149"/>
            <a:ext cx="7315200" cy="1422933"/>
          </a:xfrm>
          <a:custGeom>
            <a:avLst/>
            <a:gdLst/>
            <a:ahLst/>
            <a:cxnLst/>
            <a:rect r="r" b="b" t="t" l="l"/>
            <a:pathLst>
              <a:path h="1422933" w="7315200">
                <a:moveTo>
                  <a:pt x="0" y="0"/>
                </a:moveTo>
                <a:lnTo>
                  <a:pt x="7315200" y="0"/>
                </a:lnTo>
                <a:lnTo>
                  <a:pt x="7315200" y="1422933"/>
                </a:lnTo>
                <a:lnTo>
                  <a:pt x="0" y="14229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6859458" y="8704149"/>
            <a:ext cx="7315200" cy="1422933"/>
          </a:xfrm>
          <a:custGeom>
            <a:avLst/>
            <a:gdLst/>
            <a:ahLst/>
            <a:cxnLst/>
            <a:rect r="r" b="b" t="t" l="l"/>
            <a:pathLst>
              <a:path h="1422933" w="7315200">
                <a:moveTo>
                  <a:pt x="0" y="0"/>
                </a:moveTo>
                <a:lnTo>
                  <a:pt x="7315200" y="0"/>
                </a:lnTo>
                <a:lnTo>
                  <a:pt x="7315200" y="1422933"/>
                </a:lnTo>
                <a:lnTo>
                  <a:pt x="0" y="14229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3660277" y="8704149"/>
            <a:ext cx="7315200" cy="1422933"/>
          </a:xfrm>
          <a:custGeom>
            <a:avLst/>
            <a:gdLst/>
            <a:ahLst/>
            <a:cxnLst/>
            <a:rect r="r" b="b" t="t" l="l"/>
            <a:pathLst>
              <a:path h="1422933" w="7315200">
                <a:moveTo>
                  <a:pt x="0" y="0"/>
                </a:moveTo>
                <a:lnTo>
                  <a:pt x="7315200" y="0"/>
                </a:lnTo>
                <a:lnTo>
                  <a:pt x="7315200" y="1422933"/>
                </a:lnTo>
                <a:lnTo>
                  <a:pt x="0" y="14229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314202" y="983477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16" id="16"/>
          <p:cNvPicPr>
            <a:picLocks noChangeAspect="true"/>
          </p:cNvPicPr>
          <p:nvPr/>
        </p:nvPicPr>
        <p:blipFill>
          <a:blip r:embed="rId9"/>
          <a:srcRect l="0" t="0" r="0" b="0"/>
          <a:stretch>
            <a:fillRect/>
          </a:stretch>
        </p:blipFill>
        <p:spPr>
          <a:xfrm flipH="true" flipV="false" rot="0">
            <a:off x="1333500" y="8978392"/>
            <a:ext cx="3823395" cy="1337401"/>
          </a:xfrm>
          <a:prstGeom prst="rect">
            <a:avLst/>
          </a:prstGeom>
        </p:spPr>
      </p:pic>
      <p:pic>
        <p:nvPicPr>
          <p:cNvPr name="Picture 17" id="17"/>
          <p:cNvPicPr>
            <a:picLocks noChangeAspect="true"/>
          </p:cNvPicPr>
          <p:nvPr/>
        </p:nvPicPr>
        <p:blipFill>
          <a:blip r:embed="rId8"/>
          <a:srcRect l="0" t="0" r="0" b="0"/>
          <a:stretch>
            <a:fillRect/>
          </a:stretch>
        </p:blipFill>
        <p:spPr>
          <a:xfrm flipH="true" flipV="false" rot="0">
            <a:off x="13683532" y="8704149"/>
            <a:ext cx="3880568" cy="1717902"/>
          </a:xfrm>
          <a:prstGeom prst="rect">
            <a:avLst/>
          </a:prstGeom>
        </p:spPr>
      </p:pic>
      <p:sp>
        <p:nvSpPr>
          <p:cNvPr name="TextBox 18" id="18"/>
          <p:cNvSpPr txBox="true"/>
          <p:nvPr/>
        </p:nvSpPr>
        <p:spPr>
          <a:xfrm rot="0">
            <a:off x="2628609" y="1314450"/>
            <a:ext cx="12995207" cy="2071954"/>
          </a:xfrm>
          <a:prstGeom prst="rect">
            <a:avLst/>
          </a:prstGeom>
        </p:spPr>
        <p:txBody>
          <a:bodyPr anchor="t" rtlCol="false" tIns="0" lIns="0" bIns="0" rIns="0">
            <a:spAutoFit/>
          </a:bodyPr>
          <a:lstStyle/>
          <a:p>
            <a:pPr algn="ctr">
              <a:lnSpc>
                <a:spcPts val="7429"/>
              </a:lnSpc>
            </a:pPr>
            <a:r>
              <a:rPr lang="en-US" sz="9286">
                <a:solidFill>
                  <a:srgbClr val="000000"/>
                </a:solidFill>
                <a:latin typeface="Adlery Blockletter"/>
                <a:ea typeface="Adlery Blockletter"/>
                <a:cs typeface="Adlery Blockletter"/>
                <a:sym typeface="Adlery Blockletter"/>
              </a:rPr>
              <a:t>Comparison with Other Algorithms</a:t>
            </a:r>
          </a:p>
        </p:txBody>
      </p:sp>
      <p:sp>
        <p:nvSpPr>
          <p:cNvPr name="TextBox 19" id="19"/>
          <p:cNvSpPr txBox="true"/>
          <p:nvPr/>
        </p:nvSpPr>
        <p:spPr>
          <a:xfrm rot="0">
            <a:off x="3946326" y="4266449"/>
            <a:ext cx="11004949" cy="502920"/>
          </a:xfrm>
          <a:prstGeom prst="rect">
            <a:avLst/>
          </a:prstGeom>
        </p:spPr>
        <p:txBody>
          <a:bodyPr anchor="t" rtlCol="false" tIns="0" lIns="0" bIns="0" rIns="0">
            <a:spAutoFit/>
          </a:bodyPr>
          <a:lstStyle/>
          <a:p>
            <a:pPr algn="just">
              <a:lnSpc>
                <a:spcPts val="3960"/>
              </a:lnSpc>
            </a:pPr>
          </a:p>
        </p:txBody>
      </p:sp>
      <p:sp>
        <p:nvSpPr>
          <p:cNvPr name="TextBox 20" id="20"/>
          <p:cNvSpPr txBox="true"/>
          <p:nvPr/>
        </p:nvSpPr>
        <p:spPr>
          <a:xfrm rot="0">
            <a:off x="6721036" y="4250055"/>
            <a:ext cx="5455527" cy="1853565"/>
          </a:xfrm>
          <a:prstGeom prst="rect">
            <a:avLst/>
          </a:prstGeom>
        </p:spPr>
        <p:txBody>
          <a:bodyPr anchor="t" rtlCol="false" tIns="0" lIns="0" bIns="0" rIns="0">
            <a:spAutoFit/>
          </a:bodyPr>
          <a:lstStyle/>
          <a:p>
            <a:pPr algn="ctr">
              <a:lnSpc>
                <a:spcPts val="3600"/>
              </a:lnSpc>
            </a:pPr>
            <a:r>
              <a:rPr lang="en-US" b="true" sz="3600">
                <a:solidFill>
                  <a:srgbClr val="000000"/>
                </a:solidFill>
                <a:latin typeface="Anek Bangla Semi-Bold"/>
                <a:ea typeface="Anek Bangla Semi-Bold"/>
                <a:cs typeface="Anek Bangla Semi-Bold"/>
                <a:sym typeface="Anek Bangla Semi-Bold"/>
              </a:rPr>
              <a:t>A*</a:t>
            </a:r>
          </a:p>
          <a:p>
            <a:pPr algn="ctr">
              <a:lnSpc>
                <a:spcPts val="3600"/>
              </a:lnSpc>
            </a:pPr>
            <a:r>
              <a:rPr lang="en-US" b="true" sz="3600">
                <a:solidFill>
                  <a:srgbClr val="000000"/>
                </a:solidFill>
                <a:latin typeface="Anek Bangla Semi-Bold"/>
                <a:ea typeface="Anek Bangla Semi-Bold"/>
                <a:cs typeface="Anek Bangla Semi-Bold"/>
                <a:sym typeface="Anek Bangla Semi-Bold"/>
              </a:rPr>
              <a:t>Fa</a:t>
            </a:r>
            <a:r>
              <a:rPr lang="en-US" b="true" sz="3600">
                <a:solidFill>
                  <a:srgbClr val="000000"/>
                </a:solidFill>
                <a:latin typeface="Anek Bangla Semi-Bold"/>
                <a:ea typeface="Anek Bangla Semi-Bold"/>
                <a:cs typeface="Anek Bangla Semi-Bold"/>
                <a:sym typeface="Anek Bangla Semi-Bold"/>
              </a:rPr>
              <a:t>ster with heuristic</a:t>
            </a:r>
          </a:p>
          <a:p>
            <a:pPr algn="ctr">
              <a:lnSpc>
                <a:spcPts val="3600"/>
              </a:lnSpc>
            </a:pPr>
            <a:r>
              <a:rPr lang="en-US" b="true" sz="3600">
                <a:solidFill>
                  <a:srgbClr val="000000"/>
                </a:solidFill>
                <a:latin typeface="Anek Bangla Semi-Bold"/>
                <a:ea typeface="Anek Bangla Semi-Bold"/>
                <a:cs typeface="Anek Bangla Semi-Bold"/>
                <a:sym typeface="Anek Bangla Semi-Bold"/>
              </a:rPr>
              <a:t>Needs heuristic</a:t>
            </a:r>
          </a:p>
          <a:p>
            <a:pPr algn="ctr">
              <a:lnSpc>
                <a:spcPts val="3600"/>
              </a:lnSpc>
            </a:pPr>
          </a:p>
        </p:txBody>
      </p:sp>
      <p:sp>
        <p:nvSpPr>
          <p:cNvPr name="TextBox 21" id="21"/>
          <p:cNvSpPr txBox="true"/>
          <p:nvPr/>
        </p:nvSpPr>
        <p:spPr>
          <a:xfrm rot="0">
            <a:off x="988475" y="4295024"/>
            <a:ext cx="5455527" cy="1853565"/>
          </a:xfrm>
          <a:prstGeom prst="rect">
            <a:avLst/>
          </a:prstGeom>
        </p:spPr>
        <p:txBody>
          <a:bodyPr anchor="t" rtlCol="false" tIns="0" lIns="0" bIns="0" rIns="0">
            <a:spAutoFit/>
          </a:bodyPr>
          <a:lstStyle/>
          <a:p>
            <a:pPr algn="ctr">
              <a:lnSpc>
                <a:spcPts val="3600"/>
              </a:lnSpc>
            </a:pPr>
            <a:r>
              <a:rPr lang="en-US" b="true" sz="3600">
                <a:solidFill>
                  <a:srgbClr val="000000"/>
                </a:solidFill>
                <a:latin typeface="Anek Bangla Semi-Bold"/>
                <a:ea typeface="Anek Bangla Semi-Bold"/>
                <a:cs typeface="Anek Bangla Semi-Bold"/>
                <a:sym typeface="Anek Bangla Semi-Bold"/>
              </a:rPr>
              <a:t>D</a:t>
            </a:r>
            <a:r>
              <a:rPr lang="en-US" b="true" sz="3600">
                <a:solidFill>
                  <a:srgbClr val="000000"/>
                </a:solidFill>
                <a:latin typeface="Anek Bangla Semi-Bold"/>
                <a:ea typeface="Anek Bangla Semi-Bold"/>
                <a:cs typeface="Anek Bangla Semi-Bold"/>
                <a:sym typeface="Anek Bangla Semi-Bold"/>
              </a:rPr>
              <a:t>ijkstra</a:t>
            </a:r>
          </a:p>
          <a:p>
            <a:pPr algn="ctr">
              <a:lnSpc>
                <a:spcPts val="3600"/>
              </a:lnSpc>
            </a:pPr>
            <a:r>
              <a:rPr lang="en-US" b="true" sz="3600">
                <a:solidFill>
                  <a:srgbClr val="000000"/>
                </a:solidFill>
                <a:latin typeface="Anek Bangla Semi-Bold"/>
                <a:ea typeface="Anek Bangla Semi-Bold"/>
                <a:cs typeface="Anek Bangla Semi-Bold"/>
                <a:sym typeface="Anek Bangla Semi-Bold"/>
              </a:rPr>
              <a:t>Optimal shortest path</a:t>
            </a:r>
          </a:p>
          <a:p>
            <a:pPr algn="ctr">
              <a:lnSpc>
                <a:spcPts val="3600"/>
              </a:lnSpc>
            </a:pPr>
            <a:r>
              <a:rPr lang="en-US" b="true" sz="3600">
                <a:solidFill>
                  <a:srgbClr val="000000"/>
                </a:solidFill>
                <a:latin typeface="Anek Bangla Semi-Bold"/>
                <a:ea typeface="Anek Bangla Semi-Bold"/>
                <a:cs typeface="Anek Bangla Semi-Bold"/>
                <a:sym typeface="Anek Bangla Semi-Bold"/>
              </a:rPr>
              <a:t>Slower on huge graphs</a:t>
            </a:r>
          </a:p>
          <a:p>
            <a:pPr algn="ctr">
              <a:lnSpc>
                <a:spcPts val="3600"/>
              </a:lnSpc>
            </a:pPr>
          </a:p>
        </p:txBody>
      </p:sp>
      <p:sp>
        <p:nvSpPr>
          <p:cNvPr name="TextBox 22" id="22"/>
          <p:cNvSpPr txBox="true"/>
          <p:nvPr/>
        </p:nvSpPr>
        <p:spPr>
          <a:xfrm rot="0">
            <a:off x="12347877" y="4295024"/>
            <a:ext cx="5455527" cy="1853565"/>
          </a:xfrm>
          <a:prstGeom prst="rect">
            <a:avLst/>
          </a:prstGeom>
        </p:spPr>
        <p:txBody>
          <a:bodyPr anchor="t" rtlCol="false" tIns="0" lIns="0" bIns="0" rIns="0">
            <a:spAutoFit/>
          </a:bodyPr>
          <a:lstStyle/>
          <a:p>
            <a:pPr algn="ctr">
              <a:lnSpc>
                <a:spcPts val="3600"/>
              </a:lnSpc>
            </a:pPr>
            <a:r>
              <a:rPr lang="en-US" b="true" sz="3600">
                <a:solidFill>
                  <a:srgbClr val="000000"/>
                </a:solidFill>
                <a:latin typeface="Anek Bangla Semi-Bold"/>
                <a:ea typeface="Anek Bangla Semi-Bold"/>
                <a:cs typeface="Anek Bangla Semi-Bold"/>
                <a:sym typeface="Anek Bangla Semi-Bold"/>
              </a:rPr>
              <a:t>Bell</a:t>
            </a:r>
            <a:r>
              <a:rPr lang="en-US" b="true" sz="3600">
                <a:solidFill>
                  <a:srgbClr val="000000"/>
                </a:solidFill>
                <a:latin typeface="Anek Bangla Semi-Bold"/>
                <a:ea typeface="Anek Bangla Semi-Bold"/>
                <a:cs typeface="Anek Bangla Semi-Bold"/>
                <a:sym typeface="Anek Bangla Semi-Bold"/>
              </a:rPr>
              <a:t>man-Ford</a:t>
            </a:r>
          </a:p>
          <a:p>
            <a:pPr algn="ctr">
              <a:lnSpc>
                <a:spcPts val="3600"/>
              </a:lnSpc>
            </a:pPr>
            <a:r>
              <a:rPr lang="en-US" b="true" sz="3600">
                <a:solidFill>
                  <a:srgbClr val="000000"/>
                </a:solidFill>
                <a:latin typeface="Anek Bangla Semi-Bold"/>
                <a:ea typeface="Anek Bangla Semi-Bold"/>
                <a:cs typeface="Anek Bangla Semi-Bold"/>
                <a:sym typeface="Anek Bangla Semi-Bold"/>
              </a:rPr>
              <a:t>Handles negative weights</a:t>
            </a:r>
          </a:p>
          <a:p>
            <a:pPr algn="ctr">
              <a:lnSpc>
                <a:spcPts val="3600"/>
              </a:lnSpc>
            </a:pPr>
            <a:r>
              <a:rPr lang="en-US" b="true" sz="3600">
                <a:solidFill>
                  <a:srgbClr val="000000"/>
                </a:solidFill>
                <a:latin typeface="Anek Bangla Semi-Bold"/>
                <a:ea typeface="Anek Bangla Semi-Bold"/>
                <a:cs typeface="Anek Bangla Semi-Bold"/>
                <a:sym typeface="Anek Bangla Semi-Bold"/>
              </a:rPr>
              <a:t>Higher complexity</a:t>
            </a:r>
          </a:p>
          <a:p>
            <a:pPr algn="ctr">
              <a:lnSpc>
                <a:spcPts val="360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246161"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7" id="7"/>
          <p:cNvPicPr>
            <a:picLocks noChangeAspect="true"/>
          </p:cNvPicPr>
          <p:nvPr/>
        </p:nvPicPr>
        <p:blipFill>
          <a:blip r:embed="rId7"/>
          <a:srcRect l="0" t="0" r="0" b="0"/>
          <a:stretch>
            <a:fillRect/>
          </a:stretch>
        </p:blipFill>
        <p:spPr>
          <a:xfrm flipH="true" flipV="false" rot="0">
            <a:off x="13378732" y="8589599"/>
            <a:ext cx="3823395" cy="1337401"/>
          </a:xfrm>
          <a:prstGeom prst="rect">
            <a:avLst/>
          </a:prstGeom>
        </p:spPr>
      </p:pic>
      <p:sp>
        <p:nvSpPr>
          <p:cNvPr name="Freeform 8" id="8"/>
          <p:cNvSpPr/>
          <p:nvPr/>
        </p:nvSpPr>
        <p:spPr>
          <a:xfrm flipH="false" flipV="false" rot="-2700000">
            <a:off x="2288084" y="4246232"/>
            <a:ext cx="1134072" cy="1134072"/>
          </a:xfrm>
          <a:custGeom>
            <a:avLst/>
            <a:gdLst/>
            <a:ahLst/>
            <a:cxnLst/>
            <a:rect r="r" b="b" t="t" l="l"/>
            <a:pathLst>
              <a:path h="1134072" w="1134072">
                <a:moveTo>
                  <a:pt x="0" y="0"/>
                </a:moveTo>
                <a:lnTo>
                  <a:pt x="1134072" y="0"/>
                </a:lnTo>
                <a:lnTo>
                  <a:pt x="1134072" y="1134072"/>
                </a:lnTo>
                <a:lnTo>
                  <a:pt x="0" y="1134072"/>
                </a:lnTo>
                <a:lnTo>
                  <a:pt x="0" y="0"/>
                </a:lnTo>
                <a:close/>
              </a:path>
            </a:pathLst>
          </a:custGeom>
          <a:blipFill>
            <a:blip r:embed="rId8"/>
            <a:stretch>
              <a:fillRect l="0" t="0" r="0" b="0"/>
            </a:stretch>
          </a:blipFill>
        </p:spPr>
      </p:sp>
      <p:sp>
        <p:nvSpPr>
          <p:cNvPr name="TextBox 9" id="9"/>
          <p:cNvSpPr txBox="true"/>
          <p:nvPr/>
        </p:nvSpPr>
        <p:spPr>
          <a:xfrm rot="0">
            <a:off x="4168968" y="4049458"/>
            <a:ext cx="12086580" cy="2484120"/>
          </a:xfrm>
          <a:prstGeom prst="rect">
            <a:avLst/>
          </a:prstGeom>
        </p:spPr>
        <p:txBody>
          <a:bodyPr anchor="t" rtlCol="false" tIns="0" lIns="0" bIns="0" rIns="0">
            <a:spAutoFit/>
          </a:bodyPr>
          <a:lstStyle/>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Efficient shortest path computation</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Suitable for weighted road networks</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Works well for GPS-style navigation</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Easy to adapt for transportation systems</a:t>
            </a:r>
          </a:p>
          <a:p>
            <a:pPr algn="l" marL="777240" indent="-388620" lvl="1">
              <a:lnSpc>
                <a:spcPts val="3960"/>
              </a:lnSpc>
              <a:buFont typeface="Arial"/>
              <a:buChar char="•"/>
            </a:pPr>
            <a:r>
              <a:rPr lang="en-US" b="true" sz="3600">
                <a:solidFill>
                  <a:srgbClr val="000000"/>
                </a:solidFill>
                <a:latin typeface="Anek Bangla Semi-Bold"/>
                <a:ea typeface="Anek Bangla Semi-Bold"/>
                <a:cs typeface="Anek Bangla Semi-Bold"/>
                <a:sym typeface="Anek Bangla Semi-Bold"/>
              </a:rPr>
              <a:t>Supports traffic-based modifications</a:t>
            </a:r>
          </a:p>
        </p:txBody>
      </p:sp>
      <p:sp>
        <p:nvSpPr>
          <p:cNvPr name="TextBox 10" id="10"/>
          <p:cNvSpPr txBox="true"/>
          <p:nvPr/>
        </p:nvSpPr>
        <p:spPr>
          <a:xfrm rot="0">
            <a:off x="2053210" y="695325"/>
            <a:ext cx="14176058" cy="2348598"/>
          </a:xfrm>
          <a:prstGeom prst="rect">
            <a:avLst/>
          </a:prstGeom>
        </p:spPr>
        <p:txBody>
          <a:bodyPr anchor="t" rtlCol="false" tIns="0" lIns="0" bIns="0" rIns="0">
            <a:spAutoFit/>
          </a:bodyPr>
          <a:lstStyle/>
          <a:p>
            <a:pPr algn="ctr">
              <a:lnSpc>
                <a:spcPts val="18599"/>
              </a:lnSpc>
              <a:spcBef>
                <a:spcPct val="0"/>
              </a:spcBef>
            </a:pPr>
            <a:r>
              <a:rPr lang="en-US" sz="13285">
                <a:solidFill>
                  <a:srgbClr val="000000"/>
                </a:solidFill>
                <a:latin typeface="Adlery Blockletter"/>
                <a:ea typeface="Adlery Blockletter"/>
                <a:cs typeface="Adlery Blockletter"/>
                <a:sym typeface="Adlery Blockletter"/>
              </a:rPr>
              <a:t>Why Dijkstra’s Algorithm?</a:t>
            </a:r>
          </a:p>
        </p:txBody>
      </p:sp>
      <p:sp>
        <p:nvSpPr>
          <p:cNvPr name="Freeform 11" id="11"/>
          <p:cNvSpPr/>
          <p:nvPr/>
        </p:nvSpPr>
        <p:spPr>
          <a:xfrm flipH="false" flipV="false" rot="0">
            <a:off x="-93761" y="-1578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12" id="12"/>
          <p:cNvSpPr/>
          <p:nvPr/>
        </p:nvSpPr>
        <p:spPr>
          <a:xfrm flipH="false" flipV="false" rot="0">
            <a:off x="58639" y="-54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13" id="13"/>
          <p:cNvSpPr/>
          <p:nvPr/>
        </p:nvSpPr>
        <p:spPr>
          <a:xfrm flipH="false" flipV="false" rot="0">
            <a:off x="58639" y="84694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6859458" y="84694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13660277" y="84694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314202" y="97994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17" id="17"/>
          <p:cNvPicPr>
            <a:picLocks noChangeAspect="true"/>
          </p:cNvPicPr>
          <p:nvPr/>
        </p:nvPicPr>
        <p:blipFill>
          <a:blip r:embed="rId7"/>
          <a:srcRect l="0" t="0" r="0" b="0"/>
          <a:stretch>
            <a:fillRect/>
          </a:stretch>
        </p:blipFill>
        <p:spPr>
          <a:xfrm flipH="true" flipV="false" rot="0">
            <a:off x="13660277" y="8589599"/>
            <a:ext cx="3823395" cy="1337401"/>
          </a:xfrm>
          <a:prstGeom prst="rect">
            <a:avLst/>
          </a:prstGeom>
        </p:spPr>
      </p:pic>
      <p:pic>
        <p:nvPicPr>
          <p:cNvPr name="Picture 18" id="18"/>
          <p:cNvPicPr>
            <a:picLocks noChangeAspect="true"/>
          </p:cNvPicPr>
          <p:nvPr/>
        </p:nvPicPr>
        <p:blipFill>
          <a:blip r:embed="rId9"/>
          <a:srcRect l="0" t="0" r="0" b="0"/>
          <a:stretch>
            <a:fillRect/>
          </a:stretch>
        </p:blipFill>
        <p:spPr>
          <a:xfrm flipH="true" flipV="false" rot="0">
            <a:off x="819604" y="732292"/>
            <a:ext cx="2896635" cy="1882812"/>
          </a:xfrm>
          <a:prstGeom prst="rect">
            <a:avLst/>
          </a:prstGeom>
        </p:spPr>
      </p:pic>
      <p:sp>
        <p:nvSpPr>
          <p:cNvPr name="Freeform 19" id="19"/>
          <p:cNvSpPr/>
          <p:nvPr/>
        </p:nvSpPr>
        <p:spPr>
          <a:xfrm flipH="false" flipV="false" rot="0">
            <a:off x="-234993" y="9799493"/>
            <a:ext cx="19666864" cy="2073960"/>
          </a:xfrm>
          <a:custGeom>
            <a:avLst/>
            <a:gdLst/>
            <a:ahLst/>
            <a:cxnLst/>
            <a:rect r="r" b="b" t="t" l="l"/>
            <a:pathLst>
              <a:path h="2073960" w="19666864">
                <a:moveTo>
                  <a:pt x="0" y="0"/>
                </a:moveTo>
                <a:lnTo>
                  <a:pt x="19666864" y="0"/>
                </a:lnTo>
                <a:lnTo>
                  <a:pt x="19666864"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0" id="20"/>
          <p:cNvSpPr txBox="true"/>
          <p:nvPr/>
        </p:nvSpPr>
        <p:spPr>
          <a:xfrm rot="0">
            <a:off x="4911726" y="1937850"/>
            <a:ext cx="9068626" cy="1442634"/>
          </a:xfrm>
          <a:prstGeom prst="rect">
            <a:avLst/>
          </a:prstGeom>
        </p:spPr>
        <p:txBody>
          <a:bodyPr anchor="t" rtlCol="false" tIns="0" lIns="0" bIns="0" rIns="0">
            <a:spAutoFit/>
          </a:bodyPr>
          <a:lstStyle/>
          <a:p>
            <a:pPr algn="ctr">
              <a:lnSpc>
                <a:spcPts val="9668"/>
              </a:lnSpc>
            </a:pPr>
            <a:r>
              <a:rPr lang="en-US" sz="12085">
                <a:solidFill>
                  <a:srgbClr val="000000"/>
                </a:solidFill>
                <a:latin typeface="Adlery Blockletter"/>
                <a:ea typeface="Adlery Blockletter"/>
                <a:cs typeface="Adlery Blockletter"/>
                <a:sym typeface="Adlery Blockletter"/>
              </a:rPr>
              <a:t>Challenges Faced</a:t>
            </a:r>
          </a:p>
        </p:txBody>
      </p:sp>
      <p:sp>
        <p:nvSpPr>
          <p:cNvPr name="TextBox 21" id="21"/>
          <p:cNvSpPr txBox="true"/>
          <p:nvPr/>
        </p:nvSpPr>
        <p:spPr>
          <a:xfrm rot="0">
            <a:off x="10212258" y="3842446"/>
            <a:ext cx="6684718" cy="2698499"/>
          </a:xfrm>
          <a:prstGeom prst="rect">
            <a:avLst/>
          </a:prstGeom>
        </p:spPr>
        <p:txBody>
          <a:bodyPr anchor="t" rtlCol="false" tIns="0" lIns="0" bIns="0" rIns="0">
            <a:spAutoFit/>
          </a:bodyPr>
          <a:lstStyle/>
          <a:p>
            <a:pPr algn="l">
              <a:lnSpc>
                <a:spcPts val="3553"/>
              </a:lnSpc>
            </a:pPr>
            <a:r>
              <a:rPr lang="en-US" sz="3230" b="true">
                <a:solidFill>
                  <a:srgbClr val="000000"/>
                </a:solidFill>
                <a:latin typeface="Anek Bangla Semi-Bold"/>
                <a:ea typeface="Anek Bangla Semi-Bold"/>
                <a:cs typeface="Anek Bangla Semi-Bold"/>
                <a:sym typeface="Anek Bangla Semi-Bold"/>
              </a:rPr>
              <a:t>Solutions</a:t>
            </a:r>
          </a:p>
          <a:p>
            <a:pPr algn="l" marL="697406" indent="-348703" lvl="1">
              <a:lnSpc>
                <a:spcPts val="3553"/>
              </a:lnSpc>
              <a:buFont typeface="Arial"/>
              <a:buChar char="•"/>
            </a:pPr>
            <a:r>
              <a:rPr lang="en-US" b="true" sz="3230">
                <a:solidFill>
                  <a:srgbClr val="000000"/>
                </a:solidFill>
                <a:latin typeface="Anek Bangla Semi-Bold"/>
                <a:ea typeface="Anek Bangla Semi-Bold"/>
                <a:cs typeface="Anek Bangla Semi-Bold"/>
                <a:sym typeface="Anek Bangla Semi-Bold"/>
              </a:rPr>
              <a:t>Us</a:t>
            </a:r>
            <a:r>
              <a:rPr lang="en-US" b="true" sz="3230">
                <a:solidFill>
                  <a:srgbClr val="000000"/>
                </a:solidFill>
                <a:latin typeface="Anek Bangla Semi-Bold"/>
                <a:ea typeface="Anek Bangla Semi-Bold"/>
                <a:cs typeface="Anek Bangla Semi-Bold"/>
                <a:sym typeface="Anek Bangla Semi-Bold"/>
              </a:rPr>
              <a:t>ed adjacency lists</a:t>
            </a:r>
          </a:p>
          <a:p>
            <a:pPr algn="l" marL="697406" indent="-348703" lvl="1">
              <a:lnSpc>
                <a:spcPts val="3553"/>
              </a:lnSpc>
              <a:buFont typeface="Arial"/>
              <a:buChar char="•"/>
            </a:pPr>
            <a:r>
              <a:rPr lang="en-US" b="true" sz="3230">
                <a:solidFill>
                  <a:srgbClr val="000000"/>
                </a:solidFill>
                <a:latin typeface="Anek Bangla Semi-Bold"/>
                <a:ea typeface="Anek Bangla Semi-Bold"/>
                <a:cs typeface="Anek Bangla Semi-Bold"/>
                <a:sym typeface="Anek Bangla Semi-Bold"/>
              </a:rPr>
              <a:t>P</a:t>
            </a:r>
            <a:r>
              <a:rPr lang="en-US" b="true" sz="3230">
                <a:solidFill>
                  <a:srgbClr val="000000"/>
                </a:solidFill>
                <a:latin typeface="Anek Bangla Semi-Bold"/>
                <a:ea typeface="Anek Bangla Semi-Bold"/>
                <a:cs typeface="Anek Bangla Semi-Bold"/>
                <a:sym typeface="Anek Bangla Semi-Bold"/>
              </a:rPr>
              <a:t>riority queue optimization</a:t>
            </a:r>
          </a:p>
          <a:p>
            <a:pPr algn="l" marL="697406" indent="-348703" lvl="1">
              <a:lnSpc>
                <a:spcPts val="3553"/>
              </a:lnSpc>
              <a:buFont typeface="Arial"/>
              <a:buChar char="•"/>
            </a:pPr>
            <a:r>
              <a:rPr lang="en-US" b="true" sz="3230">
                <a:solidFill>
                  <a:srgbClr val="000000"/>
                </a:solidFill>
                <a:latin typeface="Anek Bangla Semi-Bold"/>
                <a:ea typeface="Anek Bangla Semi-Bold"/>
                <a:cs typeface="Anek Bangla Semi-Bold"/>
                <a:sym typeface="Anek Bangla Semi-Bold"/>
              </a:rPr>
              <a:t>Traffic-ba</a:t>
            </a:r>
            <a:r>
              <a:rPr lang="en-US" b="true" sz="3230">
                <a:solidFill>
                  <a:srgbClr val="000000"/>
                </a:solidFill>
                <a:latin typeface="Anek Bangla Semi-Bold"/>
                <a:ea typeface="Anek Bangla Semi-Bold"/>
                <a:cs typeface="Anek Bangla Semi-Bold"/>
                <a:sym typeface="Anek Bangla Semi-Bold"/>
              </a:rPr>
              <a:t>sed weighting</a:t>
            </a:r>
          </a:p>
          <a:p>
            <a:pPr algn="l" marL="697406" indent="-348703" lvl="1">
              <a:lnSpc>
                <a:spcPts val="3553"/>
              </a:lnSpc>
              <a:buFont typeface="Arial"/>
              <a:buChar char="•"/>
            </a:pPr>
            <a:r>
              <a:rPr lang="en-US" b="true" sz="3230">
                <a:solidFill>
                  <a:srgbClr val="000000"/>
                </a:solidFill>
                <a:latin typeface="Anek Bangla Semi-Bold"/>
                <a:ea typeface="Anek Bangla Semi-Bold"/>
                <a:cs typeface="Anek Bangla Semi-Bold"/>
                <a:sym typeface="Anek Bangla Semi-Bold"/>
              </a:rPr>
              <a:t>Efficient graph traversal</a:t>
            </a:r>
          </a:p>
          <a:p>
            <a:pPr algn="l">
              <a:lnSpc>
                <a:spcPts val="3553"/>
              </a:lnSpc>
            </a:pPr>
          </a:p>
        </p:txBody>
      </p:sp>
      <p:sp>
        <p:nvSpPr>
          <p:cNvPr name="TextBox 22" id="22"/>
          <p:cNvSpPr txBox="true"/>
          <p:nvPr/>
        </p:nvSpPr>
        <p:spPr>
          <a:xfrm rot="0">
            <a:off x="2053210" y="3771009"/>
            <a:ext cx="6684718" cy="3146174"/>
          </a:xfrm>
          <a:prstGeom prst="rect">
            <a:avLst/>
          </a:prstGeom>
        </p:spPr>
        <p:txBody>
          <a:bodyPr anchor="t" rtlCol="false" tIns="0" lIns="0" bIns="0" rIns="0">
            <a:spAutoFit/>
          </a:bodyPr>
          <a:lstStyle/>
          <a:p>
            <a:pPr algn="l">
              <a:lnSpc>
                <a:spcPts val="3553"/>
              </a:lnSpc>
            </a:pPr>
            <a:r>
              <a:rPr lang="en-US" sz="3230" b="true">
                <a:solidFill>
                  <a:srgbClr val="000000"/>
                </a:solidFill>
                <a:latin typeface="Anek Bangla Semi-Bold"/>
                <a:ea typeface="Anek Bangla Semi-Bold"/>
                <a:cs typeface="Anek Bangla Semi-Bold"/>
                <a:sym typeface="Anek Bangla Semi-Bold"/>
              </a:rPr>
              <a:t>Challenges</a:t>
            </a:r>
          </a:p>
          <a:p>
            <a:pPr algn="l" marL="697406" indent="-348703" lvl="1">
              <a:lnSpc>
                <a:spcPts val="3553"/>
              </a:lnSpc>
              <a:buFont typeface="Arial"/>
              <a:buChar char="•"/>
            </a:pPr>
            <a:r>
              <a:rPr lang="en-US" b="true" sz="3230">
                <a:solidFill>
                  <a:srgbClr val="000000"/>
                </a:solidFill>
                <a:latin typeface="Anek Bangla Semi-Bold"/>
                <a:ea typeface="Anek Bangla Semi-Bold"/>
                <a:cs typeface="Anek Bangla Semi-Bold"/>
                <a:sym typeface="Anek Bangla Semi-Bold"/>
              </a:rPr>
              <a:t>Large transportation graph size</a:t>
            </a:r>
          </a:p>
          <a:p>
            <a:pPr algn="l" marL="697406" indent="-348703" lvl="1">
              <a:lnSpc>
                <a:spcPts val="3553"/>
              </a:lnSpc>
              <a:buFont typeface="Arial"/>
              <a:buChar char="•"/>
            </a:pPr>
            <a:r>
              <a:rPr lang="en-US" b="true" sz="3230">
                <a:solidFill>
                  <a:srgbClr val="000000"/>
                </a:solidFill>
                <a:latin typeface="Anek Bangla Semi-Bold"/>
                <a:ea typeface="Anek Bangla Semi-Bold"/>
                <a:cs typeface="Anek Bangla Semi-Bold"/>
                <a:sym typeface="Anek Bangla Semi-Bold"/>
              </a:rPr>
              <a:t>Dynamic traffic conditions</a:t>
            </a:r>
          </a:p>
          <a:p>
            <a:pPr algn="l" marL="697406" indent="-348703" lvl="1">
              <a:lnSpc>
                <a:spcPts val="3553"/>
              </a:lnSpc>
              <a:buFont typeface="Arial"/>
              <a:buChar char="•"/>
            </a:pPr>
            <a:r>
              <a:rPr lang="en-US" b="true" sz="3230">
                <a:solidFill>
                  <a:srgbClr val="000000"/>
                </a:solidFill>
                <a:latin typeface="Anek Bangla Semi-Bold"/>
                <a:ea typeface="Anek Bangla Semi-Bold"/>
                <a:cs typeface="Anek Bangla Semi-Bold"/>
                <a:sym typeface="Anek Bangla Semi-Bold"/>
              </a:rPr>
              <a:t>Real-time route updates</a:t>
            </a:r>
          </a:p>
          <a:p>
            <a:pPr algn="l" marL="697406" indent="-348703" lvl="1">
              <a:lnSpc>
                <a:spcPts val="3553"/>
              </a:lnSpc>
              <a:buFont typeface="Arial"/>
              <a:buChar char="•"/>
            </a:pPr>
            <a:r>
              <a:rPr lang="en-US" b="true" sz="3230">
                <a:solidFill>
                  <a:srgbClr val="000000"/>
                </a:solidFill>
                <a:latin typeface="Anek Bangla Semi-Bold"/>
                <a:ea typeface="Anek Bangla Semi-Bold"/>
                <a:cs typeface="Anek Bangla Semi-Bold"/>
                <a:sym typeface="Anek Bangla Semi-Bold"/>
              </a:rPr>
              <a:t>Memory optimization</a:t>
            </a:r>
          </a:p>
          <a:p>
            <a:pPr algn="l" marL="697406" indent="-348703" lvl="1">
              <a:lnSpc>
                <a:spcPts val="3553"/>
              </a:lnSpc>
              <a:buFont typeface="Arial"/>
              <a:buChar char="•"/>
            </a:pPr>
            <a:r>
              <a:rPr lang="en-US" b="true" sz="3230">
                <a:solidFill>
                  <a:srgbClr val="000000"/>
                </a:solidFill>
                <a:latin typeface="Anek Bangla Semi-Bold"/>
                <a:ea typeface="Anek Bangla Semi-Bold"/>
                <a:cs typeface="Anek Bangla Semi-Bold"/>
                <a:sym typeface="Anek Bangla Semi-Bold"/>
              </a:rPr>
              <a:t>Congestion simulation complexity</a:t>
            </a:r>
          </a:p>
          <a:p>
            <a:pPr algn="l">
              <a:lnSpc>
                <a:spcPts val="3553"/>
              </a:lnSpc>
            </a:pP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246161" y="8483142"/>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8483142"/>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8483142"/>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7" id="7"/>
          <p:cNvPicPr>
            <a:picLocks noChangeAspect="true"/>
          </p:cNvPicPr>
          <p:nvPr/>
        </p:nvPicPr>
        <p:blipFill>
          <a:blip r:embed="rId7"/>
          <a:srcRect l="0" t="0" r="0" b="0"/>
          <a:stretch>
            <a:fillRect/>
          </a:stretch>
        </p:blipFill>
        <p:spPr>
          <a:xfrm flipH="true" flipV="false" rot="0">
            <a:off x="14174901" y="8245898"/>
            <a:ext cx="3084399" cy="1850639"/>
          </a:xfrm>
          <a:prstGeom prst="rect">
            <a:avLst/>
          </a:prstGeom>
        </p:spPr>
      </p:pic>
      <p:sp>
        <p:nvSpPr>
          <p:cNvPr name="TextBox 8" id="8"/>
          <p:cNvSpPr txBox="true"/>
          <p:nvPr/>
        </p:nvSpPr>
        <p:spPr>
          <a:xfrm rot="0">
            <a:off x="3867555" y="1400175"/>
            <a:ext cx="11706936" cy="1447080"/>
          </a:xfrm>
          <a:prstGeom prst="rect">
            <a:avLst/>
          </a:prstGeom>
        </p:spPr>
        <p:txBody>
          <a:bodyPr anchor="t" rtlCol="false" tIns="0" lIns="0" bIns="0" rIns="0">
            <a:spAutoFit/>
          </a:bodyPr>
          <a:lstStyle/>
          <a:p>
            <a:pPr algn="ctr">
              <a:lnSpc>
                <a:spcPts val="9588"/>
              </a:lnSpc>
            </a:pPr>
            <a:r>
              <a:rPr lang="en-US" sz="11985">
                <a:solidFill>
                  <a:srgbClr val="000000"/>
                </a:solidFill>
                <a:latin typeface="Adlery Blockletter"/>
                <a:ea typeface="Adlery Blockletter"/>
                <a:cs typeface="Adlery Blockletter"/>
                <a:sym typeface="Adlery Blockletter"/>
              </a:rPr>
              <a:t>Future Improvements</a:t>
            </a:r>
          </a:p>
        </p:txBody>
      </p:sp>
      <p:sp>
        <p:nvSpPr>
          <p:cNvPr name="TextBox 9" id="9"/>
          <p:cNvSpPr txBox="true"/>
          <p:nvPr/>
        </p:nvSpPr>
        <p:spPr>
          <a:xfrm rot="0">
            <a:off x="2290500" y="2885355"/>
            <a:ext cx="14253261" cy="1988820"/>
          </a:xfrm>
          <a:prstGeom prst="rect">
            <a:avLst/>
          </a:prstGeom>
        </p:spPr>
        <p:txBody>
          <a:bodyPr anchor="t" rtlCol="false" tIns="0" lIns="0" bIns="0" rIns="0">
            <a:spAutoFit/>
          </a:bodyPr>
          <a:lstStyle/>
          <a:p>
            <a:pPr algn="just">
              <a:lnSpc>
                <a:spcPts val="3960"/>
              </a:lnSpc>
            </a:pPr>
            <a:r>
              <a:rPr lang="en-US" sz="3600" b="true">
                <a:solidFill>
                  <a:srgbClr val="000000"/>
                </a:solidFill>
                <a:latin typeface="Anek Bangla Bold"/>
                <a:ea typeface="Anek Bangla Bold"/>
                <a:cs typeface="Anek Bangla Bold"/>
                <a:sym typeface="Anek Bangla Bold"/>
              </a:rPr>
              <a:t>Future improvements can further enhance the transportation optimization system by integrating machine learning models, real-time GPS tracking, and predictive traffic analysis.</a:t>
            </a:r>
          </a:p>
          <a:p>
            <a:pPr algn="just">
              <a:lnSpc>
                <a:spcPts val="3960"/>
              </a:lnSpc>
            </a:pPr>
          </a:p>
        </p:txBody>
      </p:sp>
      <p:sp>
        <p:nvSpPr>
          <p:cNvPr name="TextBox 10" id="10"/>
          <p:cNvSpPr txBox="true"/>
          <p:nvPr/>
        </p:nvSpPr>
        <p:spPr>
          <a:xfrm rot="0">
            <a:off x="2290500" y="4587797"/>
            <a:ext cx="12086580" cy="3474720"/>
          </a:xfrm>
          <a:prstGeom prst="rect">
            <a:avLst/>
          </a:prstGeom>
        </p:spPr>
        <p:txBody>
          <a:bodyPr anchor="t" rtlCol="false" tIns="0" lIns="0" bIns="0" rIns="0">
            <a:spAutoFit/>
          </a:bodyPr>
          <a:lstStyle/>
          <a:p>
            <a:pPr algn="just">
              <a:lnSpc>
                <a:spcPts val="3960"/>
              </a:lnSpc>
            </a:pPr>
            <a:r>
              <a:rPr lang="en-US" sz="3600" b="true">
                <a:solidFill>
                  <a:srgbClr val="000000"/>
                </a:solidFill>
                <a:latin typeface="Anek Bangla Bold"/>
                <a:ea typeface="Anek Bangla Bold"/>
                <a:cs typeface="Anek Bangla Bold"/>
                <a:sym typeface="Anek Bangla Bold"/>
              </a:rPr>
              <a:t>Future Work</a:t>
            </a:r>
          </a:p>
          <a:p>
            <a:pPr algn="just" marL="777240" indent="-388620" lvl="1">
              <a:lnSpc>
                <a:spcPts val="3960"/>
              </a:lnSpc>
              <a:buFont typeface="Arial"/>
              <a:buChar char="•"/>
            </a:pPr>
            <a:r>
              <a:rPr lang="en-US" b="true" sz="3600">
                <a:solidFill>
                  <a:srgbClr val="000000"/>
                </a:solidFill>
                <a:latin typeface="Anek Bangla Bold"/>
                <a:ea typeface="Anek Bangla Bold"/>
                <a:cs typeface="Anek Bangla Bold"/>
                <a:sym typeface="Anek Bangla Bold"/>
              </a:rPr>
              <a:t>AI traffic prediction</a:t>
            </a:r>
          </a:p>
          <a:p>
            <a:pPr algn="just" marL="777240" indent="-388620" lvl="1">
              <a:lnSpc>
                <a:spcPts val="3960"/>
              </a:lnSpc>
              <a:buFont typeface="Arial"/>
              <a:buChar char="•"/>
            </a:pPr>
            <a:r>
              <a:rPr lang="en-US" b="true" sz="3600">
                <a:solidFill>
                  <a:srgbClr val="000000"/>
                </a:solidFill>
                <a:latin typeface="Anek Bangla Bold"/>
                <a:ea typeface="Anek Bangla Bold"/>
                <a:cs typeface="Anek Bangla Bold"/>
                <a:sym typeface="Anek Bangla Bold"/>
              </a:rPr>
              <a:t>Real-time GPS integration</a:t>
            </a:r>
          </a:p>
          <a:p>
            <a:pPr algn="just" marL="777240" indent="-388620" lvl="1">
              <a:lnSpc>
                <a:spcPts val="3960"/>
              </a:lnSpc>
              <a:buFont typeface="Arial"/>
              <a:buChar char="•"/>
            </a:pPr>
            <a:r>
              <a:rPr lang="en-US" b="true" sz="3600">
                <a:solidFill>
                  <a:srgbClr val="000000"/>
                </a:solidFill>
                <a:latin typeface="Anek Bangla Bold"/>
                <a:ea typeface="Anek Bangla Bold"/>
                <a:cs typeface="Anek Bangla Bold"/>
                <a:sym typeface="Anek Bangla Bold"/>
              </a:rPr>
              <a:t>Smart traffic signals</a:t>
            </a:r>
          </a:p>
          <a:p>
            <a:pPr algn="just" marL="777240" indent="-388620" lvl="1">
              <a:lnSpc>
                <a:spcPts val="3960"/>
              </a:lnSpc>
              <a:buFont typeface="Arial"/>
              <a:buChar char="•"/>
            </a:pPr>
            <a:r>
              <a:rPr lang="en-US" b="true" sz="3600">
                <a:solidFill>
                  <a:srgbClr val="000000"/>
                </a:solidFill>
                <a:latin typeface="Anek Bangla Bold"/>
                <a:ea typeface="Anek Bangla Bold"/>
                <a:cs typeface="Anek Bangla Bold"/>
                <a:sym typeface="Anek Bangla Bold"/>
              </a:rPr>
              <a:t>Parallel route computation</a:t>
            </a:r>
          </a:p>
          <a:p>
            <a:pPr algn="just" marL="777240" indent="-388620" lvl="1">
              <a:lnSpc>
                <a:spcPts val="3960"/>
              </a:lnSpc>
              <a:buFont typeface="Arial"/>
              <a:buChar char="•"/>
            </a:pPr>
            <a:r>
              <a:rPr lang="en-US" b="true" sz="3600">
                <a:solidFill>
                  <a:srgbClr val="000000"/>
                </a:solidFill>
                <a:latin typeface="Anek Bangla Bold"/>
                <a:ea typeface="Anek Bangla Bold"/>
                <a:cs typeface="Anek Bangla Bold"/>
                <a:sym typeface="Anek Bangla Bold"/>
              </a:rPr>
              <a:t>Cloud deployment</a:t>
            </a:r>
          </a:p>
          <a:p>
            <a:pPr algn="just">
              <a:lnSpc>
                <a:spcPts val="3960"/>
              </a:lnSpc>
            </a:pPr>
          </a:p>
        </p:txBody>
      </p:sp>
      <p:sp>
        <p:nvSpPr>
          <p:cNvPr name="Freeform 11" id="11"/>
          <p:cNvSpPr/>
          <p:nvPr/>
        </p:nvSpPr>
        <p:spPr>
          <a:xfrm flipH="false" flipV="false" rot="0">
            <a:off x="684867" y="2847255"/>
            <a:ext cx="1194416" cy="1194416"/>
          </a:xfrm>
          <a:custGeom>
            <a:avLst/>
            <a:gdLst/>
            <a:ahLst/>
            <a:cxnLst/>
            <a:rect r="r" b="b" t="t" l="l"/>
            <a:pathLst>
              <a:path h="1194416" w="1194416">
                <a:moveTo>
                  <a:pt x="0" y="0"/>
                </a:moveTo>
                <a:lnTo>
                  <a:pt x="1194416" y="0"/>
                </a:lnTo>
                <a:lnTo>
                  <a:pt x="1194416" y="1194416"/>
                </a:lnTo>
                <a:lnTo>
                  <a:pt x="0" y="1194416"/>
                </a:lnTo>
                <a:lnTo>
                  <a:pt x="0" y="0"/>
                </a:lnTo>
                <a:close/>
              </a:path>
            </a:pathLst>
          </a:custGeom>
          <a:blipFill>
            <a:blip r:embed="rId8"/>
            <a:stretch>
              <a:fillRect l="0" t="0" r="0" b="0"/>
            </a:stretch>
          </a:blipFill>
        </p:spPr>
      </p:sp>
      <p:pic>
        <p:nvPicPr>
          <p:cNvPr name="Picture 12" id="12"/>
          <p:cNvPicPr>
            <a:picLocks noChangeAspect="true"/>
          </p:cNvPicPr>
          <p:nvPr/>
        </p:nvPicPr>
        <p:blipFill>
          <a:blip r:embed="rId9"/>
          <a:srcRect l="0" t="0" r="0" b="0"/>
          <a:stretch>
            <a:fillRect/>
          </a:stretch>
        </p:blipFill>
        <p:spPr>
          <a:xfrm flipH="false" flipV="false" rot="0">
            <a:off x="-1710934" y="4862327"/>
            <a:ext cx="3801019" cy="4099769"/>
          </a:xfrm>
          <a:prstGeom prst="rect">
            <a:avLst/>
          </a:prstGeom>
        </p:spPr>
      </p:pic>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10975298"/>
          </a:xfrm>
          <a:custGeom>
            <a:avLst/>
            <a:gdLst/>
            <a:ahLst/>
            <a:cxnLst/>
            <a:rect r="r" b="b" t="t" l="l"/>
            <a:pathLst>
              <a:path h="10975298" w="18774801">
                <a:moveTo>
                  <a:pt x="0" y="0"/>
                </a:moveTo>
                <a:lnTo>
                  <a:pt x="18774801" y="0"/>
                </a:lnTo>
                <a:lnTo>
                  <a:pt x="18774801" y="10975298"/>
                </a:lnTo>
                <a:lnTo>
                  <a:pt x="0" y="10975298"/>
                </a:lnTo>
                <a:lnTo>
                  <a:pt x="0" y="0"/>
                </a:lnTo>
                <a:close/>
              </a:path>
            </a:pathLst>
          </a:custGeom>
          <a:blipFill>
            <a:blip r:embed="rId2"/>
            <a:stretch>
              <a:fillRect l="-6975" t="-11347" r="-6975" b="-5609"/>
            </a:stretch>
          </a:blipFill>
        </p:spPr>
      </p:sp>
      <p:sp>
        <p:nvSpPr>
          <p:cNvPr name="Freeform 3" id="3"/>
          <p:cNvSpPr/>
          <p:nvPr/>
        </p:nvSpPr>
        <p:spPr>
          <a:xfrm flipH="false" flipV="false" rot="0">
            <a:off x="-246161"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8164639"/>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19002" y="9494693"/>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5026875" y="730793"/>
            <a:ext cx="8328603" cy="1605605"/>
          </a:xfrm>
          <a:prstGeom prst="rect">
            <a:avLst/>
          </a:prstGeom>
        </p:spPr>
        <p:txBody>
          <a:bodyPr anchor="t" rtlCol="false" tIns="0" lIns="0" bIns="0" rIns="0">
            <a:spAutoFit/>
          </a:bodyPr>
          <a:lstStyle/>
          <a:p>
            <a:pPr algn="ctr">
              <a:lnSpc>
                <a:spcPts val="10628"/>
              </a:lnSpc>
            </a:pPr>
            <a:r>
              <a:rPr lang="en-US" sz="13285">
                <a:solidFill>
                  <a:srgbClr val="000000"/>
                </a:solidFill>
                <a:latin typeface="Adlery Blockletter"/>
                <a:ea typeface="Adlery Blockletter"/>
                <a:cs typeface="Adlery Blockletter"/>
                <a:sym typeface="Adlery Blockletter"/>
              </a:rPr>
              <a:t>CONCLUSION </a:t>
            </a:r>
          </a:p>
        </p:txBody>
      </p:sp>
      <p:sp>
        <p:nvSpPr>
          <p:cNvPr name="TextBox 8" id="8"/>
          <p:cNvSpPr txBox="true"/>
          <p:nvPr/>
        </p:nvSpPr>
        <p:spPr>
          <a:xfrm rot="0">
            <a:off x="436430" y="2374497"/>
            <a:ext cx="17343998" cy="2484120"/>
          </a:xfrm>
          <a:prstGeom prst="rect">
            <a:avLst/>
          </a:prstGeom>
        </p:spPr>
        <p:txBody>
          <a:bodyPr anchor="t" rtlCol="false" tIns="0" lIns="0" bIns="0" rIns="0">
            <a:spAutoFit/>
          </a:bodyPr>
          <a:lstStyle/>
          <a:p>
            <a:pPr algn="just">
              <a:lnSpc>
                <a:spcPts val="3960"/>
              </a:lnSpc>
            </a:pPr>
            <a:r>
              <a:rPr lang="en-US" sz="3600" b="true">
                <a:solidFill>
                  <a:srgbClr val="000000"/>
                </a:solidFill>
                <a:latin typeface="Anek Bangla Semi-Bold"/>
                <a:ea typeface="Anek Bangla Semi-Bold"/>
                <a:cs typeface="Anek Bangla Semi-Bold"/>
                <a:sym typeface="Anek Bangla Semi-Bold"/>
              </a:rPr>
              <a:t>Dijkstra’s Algorithm provided an effective solution for transportation route optimization within our smart city system. Through graph modeling, shortest path computation, and traffic-aware modifications, the algorithm successfully improved routing efficiency and transportation management performance.</a:t>
            </a:r>
          </a:p>
          <a:p>
            <a:pPr algn="just">
              <a:lnSpc>
                <a:spcPts val="3960"/>
              </a:lnSpc>
            </a:pPr>
          </a:p>
        </p:txBody>
      </p:sp>
      <p:pic>
        <p:nvPicPr>
          <p:cNvPr name="Picture 9" id="9"/>
          <p:cNvPicPr>
            <a:picLocks noChangeAspect="true"/>
          </p:cNvPicPr>
          <p:nvPr/>
        </p:nvPicPr>
        <p:blipFill>
          <a:blip r:embed="rId7"/>
          <a:srcRect l="0" t="0" r="0" b="0"/>
          <a:stretch>
            <a:fillRect/>
          </a:stretch>
        </p:blipFill>
        <p:spPr>
          <a:xfrm flipH="true" flipV="false" rot="0">
            <a:off x="7182535" y="8434485"/>
            <a:ext cx="3922929" cy="1647630"/>
          </a:xfrm>
          <a:prstGeom prst="rect">
            <a:avLst/>
          </a:prstGeom>
        </p:spPr>
      </p:pic>
      <p:sp>
        <p:nvSpPr>
          <p:cNvPr name="TextBox 10" id="10"/>
          <p:cNvSpPr txBox="true"/>
          <p:nvPr/>
        </p:nvSpPr>
        <p:spPr>
          <a:xfrm rot="0">
            <a:off x="2247376" y="4896717"/>
            <a:ext cx="14765701" cy="2941320"/>
          </a:xfrm>
          <a:prstGeom prst="rect">
            <a:avLst/>
          </a:prstGeom>
        </p:spPr>
        <p:txBody>
          <a:bodyPr anchor="t" rtlCol="false" tIns="0" lIns="0" bIns="0" rIns="0">
            <a:spAutoFit/>
          </a:bodyPr>
          <a:lstStyle/>
          <a:p>
            <a:pPr algn="just">
              <a:lnSpc>
                <a:spcPts val="3960"/>
              </a:lnSpc>
            </a:pPr>
            <a:r>
              <a:rPr lang="en-US" sz="3600" b="true">
                <a:solidFill>
                  <a:srgbClr val="000000"/>
                </a:solidFill>
                <a:latin typeface="Anek Bangla Semi-Bold"/>
                <a:ea typeface="Anek Bangla Semi-Bold"/>
                <a:cs typeface="Anek Bangla Semi-Bold"/>
                <a:sym typeface="Anek Bangla Semi-Bold"/>
              </a:rPr>
              <a:t>Key Takeaways</a:t>
            </a:r>
          </a:p>
          <a:p>
            <a:pPr algn="l" marL="755651" indent="-377825" lvl="1">
              <a:lnSpc>
                <a:spcPts val="3850"/>
              </a:lnSpc>
              <a:buFont typeface="Arial"/>
              <a:buChar char="•"/>
            </a:pPr>
            <a:r>
              <a:rPr lang="en-US" b="true" sz="3500">
                <a:solidFill>
                  <a:srgbClr val="000000"/>
                </a:solidFill>
                <a:latin typeface="Anek Bangla Semi-Bold"/>
                <a:ea typeface="Anek Bangla Semi-Bold"/>
                <a:cs typeface="Anek Bangla Semi-Bold"/>
                <a:sym typeface="Anek Bangla Semi-Bold"/>
              </a:rPr>
              <a:t>Efficient shortest path computation</a:t>
            </a:r>
          </a:p>
          <a:p>
            <a:pPr algn="l" marL="755651" indent="-377825" lvl="1">
              <a:lnSpc>
                <a:spcPts val="3850"/>
              </a:lnSpc>
              <a:buFont typeface="Arial"/>
              <a:buChar char="•"/>
            </a:pPr>
            <a:r>
              <a:rPr lang="en-US" b="true" sz="3500">
                <a:solidFill>
                  <a:srgbClr val="000000"/>
                </a:solidFill>
                <a:latin typeface="Anek Bangla Semi-Bold"/>
                <a:ea typeface="Anek Bangla Semi-Bold"/>
                <a:cs typeface="Anek Bangla Semi-Bold"/>
                <a:sym typeface="Anek Bangla Semi-Bold"/>
              </a:rPr>
              <a:t>Strong mathematical foundation</a:t>
            </a:r>
          </a:p>
          <a:p>
            <a:pPr algn="l" marL="755651" indent="-377825" lvl="1">
              <a:lnSpc>
                <a:spcPts val="3850"/>
              </a:lnSpc>
              <a:buFont typeface="Arial"/>
              <a:buChar char="•"/>
            </a:pPr>
            <a:r>
              <a:rPr lang="en-US" b="true" sz="3500">
                <a:solidFill>
                  <a:srgbClr val="000000"/>
                </a:solidFill>
                <a:latin typeface="Anek Bangla Semi-Bold"/>
                <a:ea typeface="Anek Bangla Semi-Bold"/>
                <a:cs typeface="Anek Bangla Semi-Bold"/>
                <a:sym typeface="Anek Bangla Semi-Bold"/>
              </a:rPr>
              <a:t>Real-world transportation applications</a:t>
            </a:r>
          </a:p>
          <a:p>
            <a:pPr algn="l" marL="755651" indent="-377825" lvl="1">
              <a:lnSpc>
                <a:spcPts val="3850"/>
              </a:lnSpc>
              <a:buFont typeface="Arial"/>
              <a:buChar char="•"/>
            </a:pPr>
            <a:r>
              <a:rPr lang="en-US" b="true" sz="3500">
                <a:solidFill>
                  <a:srgbClr val="000000"/>
                </a:solidFill>
                <a:latin typeface="Anek Bangla Semi-Bold"/>
                <a:ea typeface="Anek Bangla Semi-Bold"/>
                <a:cs typeface="Anek Bangla Semi-Bold"/>
                <a:sym typeface="Anek Bangla Semi-Bold"/>
              </a:rPr>
              <a:t>Scalable transportation optimization</a:t>
            </a:r>
          </a:p>
          <a:p>
            <a:pPr algn="just">
              <a:lnSpc>
                <a:spcPts val="3960"/>
              </a:lnSpc>
            </a:pPr>
          </a:p>
        </p:txBody>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161" y="-310241"/>
            <a:ext cx="18774801" cy="9078968"/>
          </a:xfrm>
          <a:custGeom>
            <a:avLst/>
            <a:gdLst/>
            <a:ahLst/>
            <a:cxnLst/>
            <a:rect r="r" b="b" t="t" l="l"/>
            <a:pathLst>
              <a:path h="9078968" w="18774801">
                <a:moveTo>
                  <a:pt x="0" y="0"/>
                </a:moveTo>
                <a:lnTo>
                  <a:pt x="18774801" y="0"/>
                </a:lnTo>
                <a:lnTo>
                  <a:pt x="18774801" y="9078968"/>
                </a:lnTo>
                <a:lnTo>
                  <a:pt x="0" y="9078968"/>
                </a:lnTo>
                <a:lnTo>
                  <a:pt x="0" y="0"/>
                </a:lnTo>
                <a:close/>
              </a:path>
            </a:pathLst>
          </a:custGeom>
          <a:blipFill>
            <a:blip r:embed="rId2"/>
            <a:stretch>
              <a:fillRect l="0" t="-12038" r="0" b="-12038"/>
            </a:stretch>
          </a:blipFill>
        </p:spPr>
      </p:sp>
      <p:sp>
        <p:nvSpPr>
          <p:cNvPr name="Freeform 3" id="3"/>
          <p:cNvSpPr/>
          <p:nvPr/>
        </p:nvSpPr>
        <p:spPr>
          <a:xfrm flipH="false" flipV="false" rot="0">
            <a:off x="-246161" y="6977446"/>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54658" y="6977446"/>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55477" y="6977446"/>
            <a:ext cx="7315200" cy="1422933"/>
          </a:xfrm>
          <a:custGeom>
            <a:avLst/>
            <a:gdLst/>
            <a:ahLst/>
            <a:cxnLst/>
            <a:rect r="r" b="b" t="t" l="l"/>
            <a:pathLst>
              <a:path h="1422933" w="7315200">
                <a:moveTo>
                  <a:pt x="0" y="0"/>
                </a:moveTo>
                <a:lnTo>
                  <a:pt x="7315200" y="0"/>
                </a:lnTo>
                <a:lnTo>
                  <a:pt x="7315200" y="1422934"/>
                </a:lnTo>
                <a:lnTo>
                  <a:pt x="0" y="14229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6" id="6"/>
          <p:cNvPicPr>
            <a:picLocks noChangeAspect="true"/>
          </p:cNvPicPr>
          <p:nvPr/>
        </p:nvPicPr>
        <p:blipFill>
          <a:blip r:embed="rId5"/>
          <a:srcRect l="0" t="0" r="0" b="0"/>
          <a:stretch>
            <a:fillRect/>
          </a:stretch>
        </p:blipFill>
        <p:spPr>
          <a:xfrm flipH="true" flipV="false" rot="0">
            <a:off x="14933388" y="1986134"/>
            <a:ext cx="5946840" cy="6414246"/>
          </a:xfrm>
          <a:prstGeom prst="rect">
            <a:avLst/>
          </a:prstGeom>
        </p:spPr>
      </p:pic>
      <p:sp>
        <p:nvSpPr>
          <p:cNvPr name="Freeform 7" id="7"/>
          <p:cNvSpPr/>
          <p:nvPr/>
        </p:nvSpPr>
        <p:spPr>
          <a:xfrm flipH="false" flipV="false" rot="0">
            <a:off x="-619002" y="8221320"/>
            <a:ext cx="19666864" cy="2073960"/>
          </a:xfrm>
          <a:custGeom>
            <a:avLst/>
            <a:gdLst/>
            <a:ahLst/>
            <a:cxnLst/>
            <a:rect r="r" b="b" t="t" l="l"/>
            <a:pathLst>
              <a:path h="2073960" w="19666864">
                <a:moveTo>
                  <a:pt x="0" y="0"/>
                </a:moveTo>
                <a:lnTo>
                  <a:pt x="19666865" y="0"/>
                </a:lnTo>
                <a:lnTo>
                  <a:pt x="19666865" y="2073960"/>
                </a:lnTo>
                <a:lnTo>
                  <a:pt x="0" y="20739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7402661" y="7816469"/>
            <a:ext cx="3482678" cy="2089607"/>
          </a:xfrm>
          <a:prstGeom prst="rect">
            <a:avLst/>
          </a:prstGeom>
        </p:spPr>
      </p:pic>
      <p:pic>
        <p:nvPicPr>
          <p:cNvPr name="Picture 9" id="9"/>
          <p:cNvPicPr>
            <a:picLocks noChangeAspect="true"/>
          </p:cNvPicPr>
          <p:nvPr/>
        </p:nvPicPr>
        <p:blipFill>
          <a:blip r:embed="rId9"/>
          <a:srcRect l="0" t="0" r="0" b="0"/>
          <a:stretch>
            <a:fillRect/>
          </a:stretch>
        </p:blipFill>
        <p:spPr>
          <a:xfrm flipH="true" flipV="false" rot="0">
            <a:off x="13003926" y="6977446"/>
            <a:ext cx="4255374" cy="1883826"/>
          </a:xfrm>
          <a:prstGeom prst="rect">
            <a:avLst/>
          </a:prstGeom>
        </p:spPr>
      </p:pic>
      <p:pic>
        <p:nvPicPr>
          <p:cNvPr name="Picture 10" id="10"/>
          <p:cNvPicPr>
            <a:picLocks noChangeAspect="true"/>
          </p:cNvPicPr>
          <p:nvPr/>
        </p:nvPicPr>
        <p:blipFill>
          <a:blip r:embed="rId10"/>
          <a:srcRect l="0" t="0" r="0" b="0"/>
          <a:stretch>
            <a:fillRect/>
          </a:stretch>
        </p:blipFill>
        <p:spPr>
          <a:xfrm flipH="true" flipV="false" rot="0">
            <a:off x="1028700" y="1028700"/>
            <a:ext cx="2903046" cy="2133739"/>
          </a:xfrm>
          <a:prstGeom prst="rect">
            <a:avLst/>
          </a:prstGeom>
        </p:spPr>
      </p:pic>
      <p:pic>
        <p:nvPicPr>
          <p:cNvPr name="Picture 11" id="11"/>
          <p:cNvPicPr>
            <a:picLocks noChangeAspect="true"/>
          </p:cNvPicPr>
          <p:nvPr/>
        </p:nvPicPr>
        <p:blipFill>
          <a:blip r:embed="rId11"/>
          <a:srcRect l="0" t="0" r="0" b="0"/>
          <a:stretch>
            <a:fillRect/>
          </a:stretch>
        </p:blipFill>
        <p:spPr>
          <a:xfrm flipH="true" flipV="false" rot="0">
            <a:off x="1799269" y="6977446"/>
            <a:ext cx="4264954" cy="1791281"/>
          </a:xfrm>
          <a:prstGeom prst="rect">
            <a:avLst/>
          </a:prstGeom>
        </p:spPr>
      </p:pic>
      <p:sp>
        <p:nvSpPr>
          <p:cNvPr name="TextBox 12" id="12"/>
          <p:cNvSpPr txBox="true"/>
          <p:nvPr/>
        </p:nvSpPr>
        <p:spPr>
          <a:xfrm rot="0">
            <a:off x="6249301" y="2576684"/>
            <a:ext cx="5930259" cy="4127263"/>
          </a:xfrm>
          <a:prstGeom prst="rect">
            <a:avLst/>
          </a:prstGeom>
        </p:spPr>
        <p:txBody>
          <a:bodyPr anchor="t" rtlCol="false" tIns="0" lIns="0" bIns="0" rIns="0">
            <a:spAutoFit/>
          </a:bodyPr>
          <a:lstStyle/>
          <a:p>
            <a:pPr algn="ctr">
              <a:lnSpc>
                <a:spcPts val="14859"/>
              </a:lnSpc>
            </a:pPr>
            <a:r>
              <a:rPr lang="en-US" sz="18574">
                <a:solidFill>
                  <a:srgbClr val="000000"/>
                </a:solidFill>
                <a:latin typeface="Adlery Blockletter"/>
                <a:ea typeface="Adlery Blockletter"/>
                <a:cs typeface="Adlery Blockletter"/>
                <a:sym typeface="Adlery Blockletter"/>
              </a:rPr>
              <a:t>THANK</a:t>
            </a:r>
          </a:p>
          <a:p>
            <a:pPr algn="ctr">
              <a:lnSpc>
                <a:spcPts val="14859"/>
              </a:lnSpc>
            </a:pPr>
            <a:r>
              <a:rPr lang="en-US" sz="18574">
                <a:solidFill>
                  <a:srgbClr val="000000"/>
                </a:solidFill>
                <a:latin typeface="Adlery Blockletter"/>
                <a:ea typeface="Adlery Blockletter"/>
                <a:cs typeface="Adlery Blockletter"/>
                <a:sym typeface="Adlery Blockletter"/>
              </a:rPr>
              <a:t>YOU</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DAHJYfD4FqI</dc:identifier>
  <dcterms:modified xsi:type="dcterms:W3CDTF">2011-08-01T06:04:30Z</dcterms:modified>
  <cp:revision>1</cp:revision>
  <dc:title>Blue Green Colorful Car Illustration Group Project Presentation </dc:title>
</cp:coreProperties>
</file>